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Fraunces ExtraBold"/>
      <p:regular r:id="rId201314"/>
    </p:embeddedFont>
    <p:embeddedFont>
      <p:font typeface="Nobile"/>
      <p:regular r:id="rId201315"/>
    </p:embeddedFont>
    <p:embeddedFont>
      <p:font typeface="Nobile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FFA"/>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svg"/><Relationship Id="rId16" Type="http://schemas.openxmlformats.org/officeDocument/2006/relationships/slideLayout" Target="../slideLayouts/slideLayout2.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56040"/>
            <a:ext cx="6296860" cy="1550194"/>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3B4540"/>
                </a:solidFill>
                <a:latin typeface="Fraunces ExtraBold" pitchFamily="34" charset="0"/>
                <a:ea typeface="Fraunces ExtraBold" pitchFamily="34" charset="-122"/>
                <a:cs typeface="Fraunces ExtraBold" pitchFamily="34" charset="0"/>
              </a:rPr>
              <a:t>Designing Clean Green Cities: Sustainable Urban Layouts for the Future</a:t>
            </a:r>
            <a:endParaRPr lang="en-US" sz="3250" dirty="0"/>
          </a:p>
        </p:txBody>
      </p:sp>
      <p:sp>
        <p:nvSpPr>
          <p:cNvPr id="4" name="Text 1"/>
          <p:cNvSpPr/>
          <p:nvPr/>
        </p:nvSpPr>
        <p:spPr>
          <a:xfrm>
            <a:off x="5233360" y="3534271"/>
            <a:ext cx="6296860" cy="1587698"/>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05449"/>
                </a:solidFill>
                <a:latin typeface="Nobile" pitchFamily="34" charset="0"/>
                <a:ea typeface="Nobile" pitchFamily="34" charset="-122"/>
                <a:cs typeface="Nobile" pitchFamily="34" charset="0"/>
              </a:rPr>
              <a:t>As urbanization accelerates globally, the need for sustainable city design has never been more critical. Clean green cities represent the future of urban development, where environmental consciousness meets innovative design to create livable, resilient communities. This presentation explores the essential principles, technologies, and real-world examples that are shaping the next generation of urban spaces.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05208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3B4540"/>
                </a:solidFill>
                <a:latin typeface="Fraunces ExtraBold" pitchFamily="34" charset="0"/>
                <a:ea typeface="Fraunces ExtraBold" pitchFamily="34" charset="-122"/>
                <a:cs typeface="Fraunces ExtraBold" pitchFamily="34" charset="0"/>
              </a:rPr>
              <a:t>Why Clean Green Cities Matter</a:t>
            </a:r>
            <a:endParaRPr lang="en-US" sz="3250" dirty="0"/>
          </a:p>
        </p:txBody>
      </p:sp>
      <p:sp>
        <p:nvSpPr>
          <p:cNvPr id="3" name="Text 1"/>
          <p:cNvSpPr/>
          <p:nvPr/>
        </p:nvSpPr>
        <p:spPr>
          <a:xfrm>
            <a:off x="661475" y="1962150"/>
            <a:ext cx="3485071" cy="545802"/>
          </a:xfrm>
          <a:prstGeom prst="rect">
            <a:avLst/>
          </a:prstGeom>
          <a:noFill/>
          <a:ln/>
        </p:spPr>
        <p:txBody>
          <a:bodyPr wrap="none" lIns="0" tIns="0" rIns="0" bIns="0" rtlCol="0" anchor="t"/>
          <a:lstStyle/>
          <a:p>
            <a:pPr algn="ctr" indent="0" marL="0">
              <a:lnSpc>
                <a:spcPct val="83000"/>
              </a:lnSpc>
              <a:buNone/>
            </a:pPr>
            <a:r>
              <a:rPr lang="en-US" sz="4250" dirty="0">
                <a:solidFill>
                  <a:srgbClr val="405449"/>
                </a:solidFill>
                <a:latin typeface="Fraunces ExtraBold" pitchFamily="34" charset="0"/>
                <a:ea typeface="Fraunces ExtraBold" pitchFamily="34" charset="-122"/>
                <a:cs typeface="Fraunces ExtraBold" pitchFamily="34" charset="0"/>
              </a:rPr>
              <a:t>75%</a:t>
            </a:r>
            <a:endParaRPr lang="en-US" sz="4250" dirty="0"/>
          </a:p>
        </p:txBody>
      </p:sp>
      <p:sp>
        <p:nvSpPr>
          <p:cNvPr id="4" name="Text 2"/>
          <p:cNvSpPr/>
          <p:nvPr/>
        </p:nvSpPr>
        <p:spPr>
          <a:xfrm>
            <a:off x="661425" y="2714625"/>
            <a:ext cx="3485071" cy="258465"/>
          </a:xfrm>
          <a:prstGeom prst="rect">
            <a:avLst/>
          </a:prstGeom>
          <a:noFill/>
          <a:ln/>
        </p:spPr>
        <p:txBody>
          <a:bodyPr wrap="none" lIns="0" tIns="0" rIns="0" bIns="0" rtlCol="0" anchor="t"/>
          <a:lstStyle/>
          <a:p>
            <a:pPr algn="ctr" indent="0" marL="0">
              <a:lnSpc>
                <a:spcPct val="104000"/>
              </a:lnSpc>
              <a:buNone/>
            </a:pPr>
            <a:r>
              <a:rPr lang="en-US" sz="1600" dirty="0">
                <a:solidFill>
                  <a:srgbClr val="405449"/>
                </a:solidFill>
                <a:latin typeface="Fraunces ExtraBold" pitchFamily="34" charset="0"/>
                <a:ea typeface="Fraunces ExtraBold" pitchFamily="34" charset="-122"/>
                <a:cs typeface="Fraunces ExtraBold" pitchFamily="34" charset="0"/>
              </a:rPr>
              <a:t>Global Resources</a:t>
            </a:r>
            <a:endParaRPr lang="en-US" sz="1600" dirty="0"/>
          </a:p>
        </p:txBody>
      </p:sp>
      <p:sp>
        <p:nvSpPr>
          <p:cNvPr id="5" name="Text 3"/>
          <p:cNvSpPr/>
          <p:nvPr/>
        </p:nvSpPr>
        <p:spPr>
          <a:xfrm>
            <a:off x="661475" y="3072309"/>
            <a:ext cx="3485071" cy="793849"/>
          </a:xfrm>
          <a:prstGeom prst="rect">
            <a:avLst/>
          </a:prstGeom>
          <a:noFill/>
          <a:ln/>
        </p:spPr>
        <p:txBody>
          <a:bodyPr wrap="square" lIns="0" tIns="0" rIns="0" bIns="0" rtlCol="0" anchor="t">
            <a:normAutofit/>
          </a:bodyPr>
          <a:lstStyle/>
          <a:p>
            <a:pPr algn="ctr" indent="0" marL="0">
              <a:lnSpc>
                <a:spcPct val="133000"/>
              </a:lnSpc>
              <a:buNone/>
            </a:pPr>
            <a:r>
              <a:rPr lang="en-US" sz="1300" dirty="0">
                <a:solidFill>
                  <a:srgbClr val="405449"/>
                </a:solidFill>
                <a:latin typeface="Nobile" pitchFamily="34" charset="0"/>
                <a:ea typeface="Nobile" pitchFamily="34" charset="-122"/>
                <a:cs typeface="Nobile" pitchFamily="34" charset="0"/>
              </a:rPr>
              <a:t>Urban areas consume three-quarters of the world's resources despite occupying just 3% of Earth's land surface</a:t>
            </a:r>
            <a:endParaRPr lang="en-US" sz="1300" dirty="0"/>
          </a:p>
        </p:txBody>
      </p:sp>
      <p:sp>
        <p:nvSpPr>
          <p:cNvPr id="6" name="Text 4"/>
          <p:cNvSpPr/>
          <p:nvPr/>
        </p:nvSpPr>
        <p:spPr>
          <a:xfrm>
            <a:off x="4353213" y="1962150"/>
            <a:ext cx="3485170" cy="545802"/>
          </a:xfrm>
          <a:prstGeom prst="rect">
            <a:avLst/>
          </a:prstGeom>
          <a:noFill/>
          <a:ln/>
        </p:spPr>
        <p:txBody>
          <a:bodyPr wrap="none" lIns="0" tIns="0" rIns="0" bIns="0" rtlCol="0" anchor="t"/>
          <a:lstStyle/>
          <a:p>
            <a:pPr algn="ctr" indent="0" marL="0">
              <a:lnSpc>
                <a:spcPct val="83000"/>
              </a:lnSpc>
              <a:buNone/>
            </a:pPr>
            <a:r>
              <a:rPr lang="en-US" sz="4250" dirty="0">
                <a:solidFill>
                  <a:srgbClr val="405449"/>
                </a:solidFill>
                <a:latin typeface="Fraunces ExtraBold" pitchFamily="34" charset="0"/>
                <a:ea typeface="Fraunces ExtraBold" pitchFamily="34" charset="-122"/>
                <a:cs typeface="Fraunces ExtraBold" pitchFamily="34" charset="0"/>
              </a:rPr>
              <a:t>70%</a:t>
            </a:r>
            <a:endParaRPr lang="en-US" sz="4250" dirty="0"/>
          </a:p>
        </p:txBody>
      </p:sp>
      <p:sp>
        <p:nvSpPr>
          <p:cNvPr id="7" name="Text 5"/>
          <p:cNvSpPr/>
          <p:nvPr/>
        </p:nvSpPr>
        <p:spPr>
          <a:xfrm>
            <a:off x="4353213" y="2714625"/>
            <a:ext cx="3485170" cy="258465"/>
          </a:xfrm>
          <a:prstGeom prst="rect">
            <a:avLst/>
          </a:prstGeom>
          <a:noFill/>
          <a:ln/>
        </p:spPr>
        <p:txBody>
          <a:bodyPr wrap="none" lIns="0" tIns="0" rIns="0" bIns="0" rtlCol="0" anchor="t"/>
          <a:lstStyle/>
          <a:p>
            <a:pPr algn="ctr" indent="0" marL="0">
              <a:lnSpc>
                <a:spcPct val="104000"/>
              </a:lnSpc>
              <a:buNone/>
            </a:pPr>
            <a:r>
              <a:rPr lang="en-US" sz="1600" dirty="0">
                <a:solidFill>
                  <a:srgbClr val="405449"/>
                </a:solidFill>
                <a:latin typeface="Fraunces ExtraBold" pitchFamily="34" charset="0"/>
                <a:ea typeface="Fraunces ExtraBold" pitchFamily="34" charset="-122"/>
                <a:cs typeface="Fraunces ExtraBold" pitchFamily="34" charset="0"/>
              </a:rPr>
              <a:t>CO2 Emissions</a:t>
            </a:r>
            <a:endParaRPr lang="en-US" sz="1600" dirty="0"/>
          </a:p>
        </p:txBody>
      </p:sp>
      <p:sp>
        <p:nvSpPr>
          <p:cNvPr id="8" name="Text 6"/>
          <p:cNvSpPr/>
          <p:nvPr/>
        </p:nvSpPr>
        <p:spPr>
          <a:xfrm>
            <a:off x="4353213" y="3072309"/>
            <a:ext cx="3485170" cy="793849"/>
          </a:xfrm>
          <a:prstGeom prst="rect">
            <a:avLst/>
          </a:prstGeom>
          <a:noFill/>
          <a:ln/>
        </p:spPr>
        <p:txBody>
          <a:bodyPr wrap="square" lIns="0" tIns="0" rIns="0" bIns="0" rtlCol="0" anchor="t">
            <a:normAutofit/>
          </a:bodyPr>
          <a:lstStyle/>
          <a:p>
            <a:pPr algn="ctr" indent="0" marL="0">
              <a:lnSpc>
                <a:spcPct val="133000"/>
              </a:lnSpc>
              <a:buNone/>
            </a:pPr>
            <a:r>
              <a:rPr lang="en-US" sz="1300" dirty="0">
                <a:solidFill>
                  <a:srgbClr val="405449"/>
                </a:solidFill>
                <a:latin typeface="Nobile" pitchFamily="34" charset="0"/>
                <a:ea typeface="Nobile" pitchFamily="34" charset="-122"/>
                <a:cs typeface="Nobile" pitchFamily="34" charset="0"/>
              </a:rPr>
              <a:t>Cities produce the majority of global carbon dioxide emissions, making urban sustainability crucial</a:t>
            </a:r>
            <a:endParaRPr lang="en-US" sz="1300" dirty="0"/>
          </a:p>
        </p:txBody>
      </p:sp>
      <p:sp>
        <p:nvSpPr>
          <p:cNvPr id="9" name="Text 7"/>
          <p:cNvSpPr/>
          <p:nvPr/>
        </p:nvSpPr>
        <p:spPr>
          <a:xfrm>
            <a:off x="8045050" y="1962150"/>
            <a:ext cx="3485170" cy="545802"/>
          </a:xfrm>
          <a:prstGeom prst="rect">
            <a:avLst/>
          </a:prstGeom>
          <a:noFill/>
          <a:ln/>
        </p:spPr>
        <p:txBody>
          <a:bodyPr wrap="none" lIns="0" tIns="0" rIns="0" bIns="0" rtlCol="0" anchor="t"/>
          <a:lstStyle/>
          <a:p>
            <a:pPr algn="ctr" indent="0" marL="0">
              <a:lnSpc>
                <a:spcPct val="83000"/>
              </a:lnSpc>
              <a:buNone/>
            </a:pPr>
            <a:r>
              <a:rPr lang="en-US" sz="4250" dirty="0">
                <a:solidFill>
                  <a:srgbClr val="405449"/>
                </a:solidFill>
                <a:latin typeface="Fraunces ExtraBold" pitchFamily="34" charset="0"/>
                <a:ea typeface="Fraunces ExtraBold" pitchFamily="34" charset="-122"/>
                <a:cs typeface="Fraunces ExtraBold" pitchFamily="34" charset="0"/>
              </a:rPr>
              <a:t>68%</a:t>
            </a:r>
            <a:endParaRPr lang="en-US" sz="4250" dirty="0"/>
          </a:p>
        </p:txBody>
      </p:sp>
      <p:sp>
        <p:nvSpPr>
          <p:cNvPr id="10" name="Text 8"/>
          <p:cNvSpPr/>
          <p:nvPr/>
        </p:nvSpPr>
        <p:spPr>
          <a:xfrm>
            <a:off x="8045050" y="2714625"/>
            <a:ext cx="3485170" cy="258465"/>
          </a:xfrm>
          <a:prstGeom prst="rect">
            <a:avLst/>
          </a:prstGeom>
          <a:noFill/>
          <a:ln/>
        </p:spPr>
        <p:txBody>
          <a:bodyPr wrap="none" lIns="0" tIns="0" rIns="0" bIns="0" rtlCol="0" anchor="t"/>
          <a:lstStyle/>
          <a:p>
            <a:pPr algn="ctr" indent="0" marL="0">
              <a:lnSpc>
                <a:spcPct val="104000"/>
              </a:lnSpc>
              <a:buNone/>
            </a:pPr>
            <a:r>
              <a:rPr lang="en-US" sz="1600" dirty="0">
                <a:solidFill>
                  <a:srgbClr val="405449"/>
                </a:solidFill>
                <a:latin typeface="Fraunces ExtraBold" pitchFamily="34" charset="0"/>
                <a:ea typeface="Fraunces ExtraBold" pitchFamily="34" charset="-122"/>
                <a:cs typeface="Fraunces ExtraBold" pitchFamily="34" charset="0"/>
              </a:rPr>
              <a:t>Urban Population</a:t>
            </a:r>
            <a:endParaRPr lang="en-US" sz="1600" dirty="0"/>
          </a:p>
        </p:txBody>
      </p:sp>
      <p:sp>
        <p:nvSpPr>
          <p:cNvPr id="11" name="Text 9"/>
          <p:cNvSpPr/>
          <p:nvPr/>
        </p:nvSpPr>
        <p:spPr>
          <a:xfrm>
            <a:off x="8045050" y="3072309"/>
            <a:ext cx="3485170" cy="793849"/>
          </a:xfrm>
          <a:prstGeom prst="rect">
            <a:avLst/>
          </a:prstGeom>
          <a:noFill/>
          <a:ln/>
        </p:spPr>
        <p:txBody>
          <a:bodyPr wrap="square" lIns="0" tIns="0" rIns="0" bIns="0" rtlCol="0" anchor="t">
            <a:normAutofit/>
          </a:bodyPr>
          <a:lstStyle/>
          <a:p>
            <a:pPr algn="ctr" indent="0" marL="0">
              <a:lnSpc>
                <a:spcPct val="133000"/>
              </a:lnSpc>
              <a:buNone/>
            </a:pPr>
            <a:r>
              <a:rPr lang="en-US" sz="1300" dirty="0">
                <a:solidFill>
                  <a:srgbClr val="405449"/>
                </a:solidFill>
                <a:latin typeface="Nobile" pitchFamily="34" charset="0"/>
                <a:ea typeface="Nobile" pitchFamily="34" charset="-122"/>
                <a:cs typeface="Nobile" pitchFamily="34" charset="0"/>
              </a:rPr>
              <a:t>By 2050, this percentage of the global population will live in cities, amplifying environmental challenges</a:t>
            </a:r>
            <a:endParaRPr lang="en-US" sz="1300" dirty="0"/>
          </a:p>
        </p:txBody>
      </p:sp>
      <p:sp>
        <p:nvSpPr>
          <p:cNvPr id="12" name="Text 10"/>
          <p:cNvSpPr/>
          <p:nvPr/>
        </p:nvSpPr>
        <p:spPr>
          <a:xfrm>
            <a:off x="661475" y="4052193"/>
            <a:ext cx="10868745" cy="1773734"/>
          </a:xfrm>
          <a:prstGeom prst="rect">
            <a:avLst/>
          </a:prstGeom>
          <a:noFill/>
          <a:ln/>
        </p:spPr>
        <p:txBody>
          <a:bodyPr wrap="square" lIns="0" tIns="0" rIns="0" bIns="0" rtlCol="0" anchor="t">
            <a:normAutofit/>
          </a:bodyPr>
          <a:lstStyle/>
          <a:p>
            <a:pPr algn="l" indent="0" marL="0">
              <a:lnSpc>
                <a:spcPct val="133000"/>
              </a:lnSpc>
              <a:spcAft>
                <a:spcPts val="1450"/>
              </a:spcAft>
              <a:buNone/>
            </a:pPr>
            <a:r>
              <a:rPr lang="en-US" sz="1300" dirty="0">
                <a:solidFill>
                  <a:srgbClr val="405449"/>
                </a:solidFill>
                <a:latin typeface="Nobile" pitchFamily="34" charset="0"/>
                <a:ea typeface="Nobile" pitchFamily="34" charset="-122"/>
                <a:cs typeface="Nobile" pitchFamily="34" charset="0"/>
              </a:rPr>
              <a:t>According to UN Habitat, urban areas are simultaneously the problem and the solution to our global environmental crisis. The concentration of people, resources, and economic activity in cities creates unprecedented opportunities for sustainable innovation. Green city layouts don't just reduce pollution and improve public health – they fundamentally transform how we experience urban living.</a:t>
            </a:r>
            <a:endParaRPr lang="en-US" sz="1300" dirty="0"/>
          </a:p>
          <a:p>
            <a:pPr algn="l" indent="0" marL="0">
              <a:lnSpc>
                <a:spcPct val="133000"/>
              </a:lnSpc>
              <a:buNone/>
            </a:pPr>
            <a:r>
              <a:rPr lang="en-US" sz="1300" dirty="0">
                <a:solidFill>
                  <a:srgbClr val="405449"/>
                </a:solidFill>
                <a:latin typeface="Nobile" pitchFamily="34" charset="0"/>
                <a:ea typeface="Nobile" pitchFamily="34" charset="-122"/>
                <a:cs typeface="Nobile" pitchFamily="34" charset="0"/>
              </a:rPr>
              <a:t>The concept of clean green cities goes beyond adding parks and trees. It involves reimagining urban systems to work in harmony with natural processes, creating environments where human activity enhances rather than degrades the ecosystem. This holistic approach to city design recognizes that environmental health, economic prosperity, and social well-being are interconnected and mutually reinforcing.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13856"/>
            <a:ext cx="10868745" cy="508695"/>
          </a:xfrm>
          <a:prstGeom prst="rect">
            <a:avLst/>
          </a:prstGeom>
          <a:noFill/>
          <a:ln/>
        </p:spPr>
        <p:txBody>
          <a:bodyPr wrap="none" lIns="0" tIns="0" rIns="0" bIns="0" rtlCol="0" anchor="t"/>
          <a:lstStyle/>
          <a:p>
            <a:pPr algn="l" indent="0" marL="0">
              <a:lnSpc>
                <a:spcPct val="104000"/>
              </a:lnSpc>
              <a:buNone/>
            </a:pPr>
            <a:r>
              <a:rPr lang="en-US" sz="3200" dirty="0">
                <a:solidFill>
                  <a:srgbClr val="3B4540"/>
                </a:solidFill>
                <a:latin typeface="Fraunces ExtraBold" pitchFamily="34" charset="0"/>
                <a:ea typeface="Fraunces ExtraBold" pitchFamily="34" charset="-122"/>
                <a:cs typeface="Fraunces ExtraBold" pitchFamily="34" charset="0"/>
              </a:rPr>
              <a:t>Core Principles of Green City Layouts</a:t>
            </a:r>
            <a:endParaRPr lang="en-US" sz="3200" dirty="0"/>
          </a:p>
        </p:txBody>
      </p:sp>
      <p:sp>
        <p:nvSpPr>
          <p:cNvPr id="3" name="Shape 1"/>
          <p:cNvSpPr/>
          <p:nvPr/>
        </p:nvSpPr>
        <p:spPr>
          <a:xfrm>
            <a:off x="661475" y="1320998"/>
            <a:ext cx="3516026" cy="3133725"/>
          </a:xfrm>
          <a:prstGeom prst="roundRect">
            <a:avLst>
              <a:gd name="adj" fmla="val 4676"/>
            </a:avLst>
          </a:prstGeom>
          <a:solidFill>
            <a:srgbClr val="E8F3E8"/>
          </a:solidFill>
          <a:ln/>
        </p:spPr>
      </p:sp>
      <p:sp>
        <p:nvSpPr>
          <p:cNvPr id="4" name="Shape 2"/>
          <p:cNvSpPr/>
          <p:nvPr/>
        </p:nvSpPr>
        <p:spPr>
          <a:xfrm>
            <a:off x="824190" y="1483717"/>
            <a:ext cx="488342" cy="488355"/>
          </a:xfrm>
          <a:prstGeom prst="ellipse">
            <a:avLst/>
          </a:prstGeom>
          <a:solidFill>
            <a:srgbClr val="438951"/>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8429" y="1617960"/>
            <a:ext cx="219764" cy="219770"/>
          </a:xfrm>
          <a:prstGeom prst="rect">
            <a:avLst/>
          </a:prstGeom>
        </p:spPr>
      </p:pic>
      <p:sp>
        <p:nvSpPr>
          <p:cNvPr id="6" name="Text 3"/>
          <p:cNvSpPr/>
          <p:nvPr/>
        </p:nvSpPr>
        <p:spPr>
          <a:xfrm>
            <a:off x="824190" y="2132310"/>
            <a:ext cx="3190597" cy="254298"/>
          </a:xfrm>
          <a:prstGeom prst="rect">
            <a:avLst/>
          </a:prstGeom>
          <a:noFill/>
          <a:ln/>
        </p:spPr>
        <p:txBody>
          <a:bodyPr wrap="none" lIns="0" tIns="0" rIns="0" bIns="0" rtlCol="0" anchor="t"/>
          <a:lstStyle/>
          <a:p>
            <a:pPr algn="l" indent="0" marL="0">
              <a:lnSpc>
                <a:spcPct val="104000"/>
              </a:lnSpc>
              <a:buNone/>
            </a:pPr>
            <a:r>
              <a:rPr lang="en-US" sz="1600" dirty="0">
                <a:solidFill>
                  <a:srgbClr val="405449"/>
                </a:solidFill>
                <a:latin typeface="Fraunces ExtraBold" pitchFamily="34" charset="0"/>
                <a:ea typeface="Fraunces ExtraBold" pitchFamily="34" charset="-122"/>
                <a:cs typeface="Fraunces ExtraBold" pitchFamily="34" charset="0"/>
              </a:rPr>
              <a:t>Integrated Green Spaces</a:t>
            </a:r>
            <a:endParaRPr lang="en-US" sz="1600" dirty="0"/>
          </a:p>
        </p:txBody>
      </p:sp>
      <p:sp>
        <p:nvSpPr>
          <p:cNvPr id="7" name="Text 4"/>
          <p:cNvSpPr/>
          <p:nvPr/>
        </p:nvSpPr>
        <p:spPr>
          <a:xfrm>
            <a:off x="824190" y="2482751"/>
            <a:ext cx="3190597" cy="180925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405449"/>
                </a:solidFill>
                <a:latin typeface="Nobile" pitchFamily="34" charset="0"/>
                <a:ea typeface="Nobile" pitchFamily="34" charset="-122"/>
                <a:cs typeface="Nobile" pitchFamily="34" charset="0"/>
              </a:rPr>
              <a:t>Seamless integration of parks, green corridors, and natural areas within residential and commercial zones creates continuous ecological networks that support biodiversity while providing recreation and wellness opportunities for residents.</a:t>
            </a:r>
            <a:endParaRPr lang="en-US" sz="1250" dirty="0"/>
          </a:p>
        </p:txBody>
      </p:sp>
      <p:sp>
        <p:nvSpPr>
          <p:cNvPr id="8" name="Shape 5"/>
          <p:cNvSpPr/>
          <p:nvPr/>
        </p:nvSpPr>
        <p:spPr>
          <a:xfrm>
            <a:off x="4337735" y="1320998"/>
            <a:ext cx="3516125" cy="3133725"/>
          </a:xfrm>
          <a:prstGeom prst="roundRect">
            <a:avLst>
              <a:gd name="adj" fmla="val 4676"/>
            </a:avLst>
          </a:prstGeom>
          <a:solidFill>
            <a:srgbClr val="E8F3E8"/>
          </a:solidFill>
          <a:ln/>
        </p:spPr>
      </p:sp>
      <p:sp>
        <p:nvSpPr>
          <p:cNvPr id="9" name="Shape 6"/>
          <p:cNvSpPr/>
          <p:nvPr/>
        </p:nvSpPr>
        <p:spPr>
          <a:xfrm>
            <a:off x="4500450" y="1483717"/>
            <a:ext cx="488342" cy="488355"/>
          </a:xfrm>
          <a:prstGeom prst="ellipse">
            <a:avLst/>
          </a:prstGeom>
          <a:solidFill>
            <a:srgbClr val="438951"/>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4690" y="1617960"/>
            <a:ext cx="219764" cy="219770"/>
          </a:xfrm>
          <a:prstGeom prst="rect">
            <a:avLst/>
          </a:prstGeom>
        </p:spPr>
      </p:pic>
      <p:sp>
        <p:nvSpPr>
          <p:cNvPr id="11" name="Text 7"/>
          <p:cNvSpPr/>
          <p:nvPr/>
        </p:nvSpPr>
        <p:spPr>
          <a:xfrm>
            <a:off x="4500450" y="2132310"/>
            <a:ext cx="3190696" cy="254298"/>
          </a:xfrm>
          <a:prstGeom prst="rect">
            <a:avLst/>
          </a:prstGeom>
          <a:noFill/>
          <a:ln/>
        </p:spPr>
        <p:txBody>
          <a:bodyPr wrap="none" lIns="0" tIns="0" rIns="0" bIns="0" rtlCol="0" anchor="t"/>
          <a:lstStyle/>
          <a:p>
            <a:pPr algn="l" indent="0" marL="0">
              <a:lnSpc>
                <a:spcPct val="104000"/>
              </a:lnSpc>
              <a:buNone/>
            </a:pPr>
            <a:r>
              <a:rPr lang="en-US" sz="1600" dirty="0">
                <a:solidFill>
                  <a:srgbClr val="405449"/>
                </a:solidFill>
                <a:latin typeface="Fraunces ExtraBold" pitchFamily="34" charset="0"/>
                <a:ea typeface="Fraunces ExtraBold" pitchFamily="34" charset="-122"/>
                <a:cs typeface="Fraunces ExtraBold" pitchFamily="34" charset="0"/>
              </a:rPr>
              <a:t>Sustainable Mobility</a:t>
            </a:r>
            <a:endParaRPr lang="en-US" sz="1600" dirty="0"/>
          </a:p>
        </p:txBody>
      </p:sp>
      <p:sp>
        <p:nvSpPr>
          <p:cNvPr id="12" name="Text 8"/>
          <p:cNvSpPr/>
          <p:nvPr/>
        </p:nvSpPr>
        <p:spPr>
          <a:xfrm>
            <a:off x="4500450" y="2482751"/>
            <a:ext cx="3190696" cy="180925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405449"/>
                </a:solidFill>
                <a:latin typeface="Nobile" pitchFamily="34" charset="0"/>
                <a:ea typeface="Nobile" pitchFamily="34" charset="-122"/>
                <a:cs typeface="Nobile" pitchFamily="34" charset="0"/>
              </a:rPr>
              <a:t>Comprehensive public transport systems, dedicated cycling lanes, and pedestrian-friendly streets reduce car dependency, lower emissions, and create more livable neighborhoods where people can walk, bike, and connect with their community.</a:t>
            </a:r>
            <a:endParaRPr lang="en-US" sz="1250" dirty="0"/>
          </a:p>
        </p:txBody>
      </p:sp>
      <p:sp>
        <p:nvSpPr>
          <p:cNvPr id="13" name="Shape 9"/>
          <p:cNvSpPr/>
          <p:nvPr/>
        </p:nvSpPr>
        <p:spPr>
          <a:xfrm>
            <a:off x="8014095" y="1320998"/>
            <a:ext cx="3516125" cy="3133725"/>
          </a:xfrm>
          <a:prstGeom prst="roundRect">
            <a:avLst>
              <a:gd name="adj" fmla="val 4676"/>
            </a:avLst>
          </a:prstGeom>
          <a:solidFill>
            <a:srgbClr val="E8F3E8"/>
          </a:solidFill>
          <a:ln/>
        </p:spPr>
      </p:sp>
      <p:sp>
        <p:nvSpPr>
          <p:cNvPr id="14" name="Shape 10"/>
          <p:cNvSpPr/>
          <p:nvPr/>
        </p:nvSpPr>
        <p:spPr>
          <a:xfrm>
            <a:off x="8176810" y="1483717"/>
            <a:ext cx="488342" cy="488355"/>
          </a:xfrm>
          <a:prstGeom prst="ellipse">
            <a:avLst/>
          </a:prstGeom>
          <a:solidFill>
            <a:srgbClr val="438951"/>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11049" y="1617960"/>
            <a:ext cx="219764" cy="219770"/>
          </a:xfrm>
          <a:prstGeom prst="rect">
            <a:avLst/>
          </a:prstGeom>
        </p:spPr>
      </p:pic>
      <p:sp>
        <p:nvSpPr>
          <p:cNvPr id="16" name="Text 11"/>
          <p:cNvSpPr/>
          <p:nvPr/>
        </p:nvSpPr>
        <p:spPr>
          <a:xfrm>
            <a:off x="8176810" y="2132310"/>
            <a:ext cx="3190696" cy="254298"/>
          </a:xfrm>
          <a:prstGeom prst="rect">
            <a:avLst/>
          </a:prstGeom>
          <a:noFill/>
          <a:ln/>
        </p:spPr>
        <p:txBody>
          <a:bodyPr wrap="none" lIns="0" tIns="0" rIns="0" bIns="0" rtlCol="0" anchor="t"/>
          <a:lstStyle/>
          <a:p>
            <a:pPr algn="l" indent="0" marL="0">
              <a:lnSpc>
                <a:spcPct val="104000"/>
              </a:lnSpc>
              <a:buNone/>
            </a:pPr>
            <a:r>
              <a:rPr lang="en-US" sz="1600" dirty="0">
                <a:solidFill>
                  <a:srgbClr val="405449"/>
                </a:solidFill>
                <a:latin typeface="Fraunces ExtraBold" pitchFamily="34" charset="0"/>
                <a:ea typeface="Fraunces ExtraBold" pitchFamily="34" charset="-122"/>
                <a:cs typeface="Fraunces ExtraBold" pitchFamily="34" charset="0"/>
              </a:rPr>
              <a:t>Smart Resource Management</a:t>
            </a:r>
            <a:endParaRPr lang="en-US" sz="1600" dirty="0"/>
          </a:p>
        </p:txBody>
      </p:sp>
      <p:sp>
        <p:nvSpPr>
          <p:cNvPr id="17" name="Text 12"/>
          <p:cNvSpPr/>
          <p:nvPr/>
        </p:nvSpPr>
        <p:spPr>
          <a:xfrm>
            <a:off x="8176810" y="2482751"/>
            <a:ext cx="3190696" cy="180925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405449"/>
                </a:solidFill>
                <a:latin typeface="Nobile" pitchFamily="34" charset="0"/>
                <a:ea typeface="Nobile" pitchFamily="34" charset="-122"/>
                <a:cs typeface="Nobile" pitchFamily="34" charset="0"/>
              </a:rPr>
              <a:t>Renewable energy systems, intelligent waste management, and circular economy principles ensure efficient use of resources while minimizing environmental impact through innovative technology and sustainable practices.</a:t>
            </a:r>
            <a:endParaRPr lang="en-US" sz="1250" dirty="0"/>
          </a:p>
        </p:txBody>
      </p:sp>
      <p:sp>
        <p:nvSpPr>
          <p:cNvPr id="18" name="Text 13"/>
          <p:cNvSpPr/>
          <p:nvPr/>
        </p:nvSpPr>
        <p:spPr>
          <a:xfrm>
            <a:off x="661475" y="4635004"/>
            <a:ext cx="10868745" cy="1731070"/>
          </a:xfrm>
          <a:prstGeom prst="rect">
            <a:avLst/>
          </a:prstGeom>
          <a:noFill/>
          <a:ln/>
        </p:spPr>
        <p:txBody>
          <a:bodyPr wrap="square" lIns="0" tIns="0" rIns="0" bIns="0" rtlCol="0" anchor="t">
            <a:normAutofit/>
          </a:bodyPr>
          <a:lstStyle/>
          <a:p>
            <a:pPr algn="l" indent="0" marL="0">
              <a:lnSpc>
                <a:spcPct val="132000"/>
              </a:lnSpc>
              <a:spcAft>
                <a:spcPts val="1400"/>
              </a:spcAft>
              <a:buNone/>
            </a:pPr>
            <a:r>
              <a:rPr lang="en-US" sz="1250" dirty="0">
                <a:solidFill>
                  <a:srgbClr val="405449"/>
                </a:solidFill>
                <a:latin typeface="Nobile" pitchFamily="34" charset="0"/>
                <a:ea typeface="Nobile" pitchFamily="34" charset="-122"/>
                <a:cs typeface="Nobile" pitchFamily="34" charset="0"/>
              </a:rPr>
              <a:t>These foundational principles work synergistically to create urban environments that are not only environmentally sustainable but also economically viable and socially equitable. The integration of green infrastructure with built environments creates microclimates that naturally regulate temperature, improve air quality, and manage stormwater runoff.</a:t>
            </a:r>
            <a:endParaRPr lang="en-US" sz="1250" dirty="0"/>
          </a:p>
          <a:p>
            <a:pPr algn="l" indent="0" marL="0">
              <a:lnSpc>
                <a:spcPct val="132000"/>
              </a:lnSpc>
              <a:buNone/>
            </a:pPr>
            <a:r>
              <a:rPr lang="en-US" sz="1250" dirty="0">
                <a:solidFill>
                  <a:srgbClr val="405449"/>
                </a:solidFill>
                <a:latin typeface="Nobile" pitchFamily="34" charset="0"/>
                <a:ea typeface="Nobile" pitchFamily="34" charset="-122"/>
                <a:cs typeface="Nobile" pitchFamily="34" charset="0"/>
              </a:rPr>
              <a:t>Successful green cities also prioritize density done right – compact, mixed-use developments that reduce sprawl while providing high-quality living spaces. This approach maximizes the efficiency of infrastructure investments while preserving natural areas outside the urban core.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0649"/>
            <a:ext cx="10868745" cy="331093"/>
          </a:xfrm>
          <a:prstGeom prst="rect">
            <a:avLst/>
          </a:prstGeom>
          <a:noFill/>
          <a:ln/>
        </p:spPr>
        <p:txBody>
          <a:bodyPr wrap="none" lIns="0" tIns="0" rIns="0" bIns="0" rtlCol="0" anchor="t"/>
          <a:lstStyle/>
          <a:p>
            <a:pPr algn="l" indent="0" marL="0">
              <a:lnSpc>
                <a:spcPct val="104000"/>
              </a:lnSpc>
              <a:buNone/>
            </a:pPr>
            <a:r>
              <a:rPr lang="en-US" sz="2050" dirty="0">
                <a:solidFill>
                  <a:srgbClr val="3B4540"/>
                </a:solidFill>
                <a:latin typeface="Fraunces ExtraBold" pitchFamily="34" charset="0"/>
                <a:ea typeface="Fraunces ExtraBold" pitchFamily="34" charset="-122"/>
                <a:cs typeface="Fraunces ExtraBold" pitchFamily="34" charset="0"/>
              </a:rPr>
              <a:t>Two Content Pictures: Urban Green Spaces &amp; Mixed-Use Development</a:t>
            </a:r>
            <a:endParaRPr lang="en-US" sz="2050" dirty="0"/>
          </a:p>
        </p:txBody>
      </p:sp>
      <p:pic>
        <p:nvPicPr>
          <p:cNvPr id="3" name="Image 0" descr="preencoded.png">    </p:cNvPr>
          <p:cNvPicPr>
            <a:picLocks noChangeAspect="1"/>
          </p:cNvPicPr>
          <p:nvPr/>
        </p:nvPicPr>
        <p:blipFill>
          <a:blip r:embed="rId1"/>
          <a:stretch>
            <a:fillRect/>
          </a:stretch>
        </p:blipFill>
        <p:spPr>
          <a:xfrm>
            <a:off x="661475" y="1007368"/>
            <a:ext cx="3217087" cy="2324398"/>
          </a:xfrm>
          <a:prstGeom prst="rect">
            <a:avLst/>
          </a:prstGeom>
        </p:spPr>
      </p:pic>
      <p:sp>
        <p:nvSpPr>
          <p:cNvPr id="4" name="Text 1"/>
          <p:cNvSpPr/>
          <p:nvPr/>
        </p:nvSpPr>
        <p:spPr>
          <a:xfrm>
            <a:off x="661475" y="3414301"/>
            <a:ext cx="5305193" cy="165497"/>
          </a:xfrm>
          <a:prstGeom prst="rect">
            <a:avLst/>
          </a:prstGeom>
          <a:noFill/>
          <a:ln/>
        </p:spPr>
        <p:txBody>
          <a:bodyPr wrap="none" lIns="0" tIns="0" rIns="0" bIns="0" rtlCol="0" anchor="t"/>
          <a:lstStyle/>
          <a:p>
            <a:pPr algn="l" indent="0" marL="0">
              <a:lnSpc>
                <a:spcPct val="104000"/>
              </a:lnSpc>
              <a:buNone/>
            </a:pPr>
            <a:r>
              <a:rPr lang="en-US" sz="1000" dirty="0">
                <a:solidFill>
                  <a:srgbClr val="3B4540"/>
                </a:solidFill>
                <a:latin typeface="Fraunces ExtraBold" pitchFamily="34" charset="0"/>
                <a:ea typeface="Fraunces ExtraBold" pitchFamily="34" charset="-122"/>
                <a:cs typeface="Fraunces ExtraBold" pitchFamily="34" charset="0"/>
              </a:rPr>
              <a:t>Green Corridor Networks</a:t>
            </a:r>
            <a:endParaRPr lang="en-US" sz="1000" dirty="0"/>
          </a:p>
        </p:txBody>
      </p:sp>
      <p:sp>
        <p:nvSpPr>
          <p:cNvPr id="5" name="Text 2"/>
          <p:cNvSpPr/>
          <p:nvPr/>
        </p:nvSpPr>
        <p:spPr>
          <a:xfrm>
            <a:off x="661475" y="3641427"/>
            <a:ext cx="5305193" cy="556022"/>
          </a:xfrm>
          <a:prstGeom prst="rect">
            <a:avLst/>
          </a:prstGeom>
          <a:noFill/>
          <a:ln/>
        </p:spPr>
        <p:txBody>
          <a:bodyPr wrap="square" lIns="0" tIns="0" rIns="0" bIns="0" rtlCol="0" anchor="t">
            <a:normAutofit/>
          </a:bodyPr>
          <a:lstStyle/>
          <a:p>
            <a:pPr algn="l" indent="0" marL="0">
              <a:lnSpc>
                <a:spcPct val="109000"/>
              </a:lnSpc>
              <a:buNone/>
            </a:pPr>
            <a:r>
              <a:rPr lang="en-US" sz="800" dirty="0">
                <a:solidFill>
                  <a:srgbClr val="405449"/>
                </a:solidFill>
                <a:latin typeface="Nobile" pitchFamily="34" charset="0"/>
                <a:ea typeface="Nobile" pitchFamily="34" charset="-122"/>
                <a:cs typeface="Nobile" pitchFamily="34" charset="0"/>
              </a:rPr>
              <a:t>Interconnected park systems create wildlife corridors and provide residents with continuous access to nature throughout the urban landscape. These green arteries serve multiple functions: they filter air pollution, reduce urban heat island effects, and offer recreational pathways that encourage active transportation.</a:t>
            </a:r>
            <a:endParaRPr lang="en-US" sz="800" dirty="0"/>
          </a:p>
        </p:txBody>
      </p:sp>
      <p:pic>
        <p:nvPicPr>
          <p:cNvPr id="6" name="Image 1" descr="preencoded.png">    </p:cNvPr>
          <p:cNvPicPr>
            <a:picLocks noChangeAspect="1"/>
          </p:cNvPicPr>
          <p:nvPr/>
        </p:nvPicPr>
        <p:blipFill>
          <a:blip r:embed="rId2"/>
          <a:stretch>
            <a:fillRect/>
          </a:stretch>
        </p:blipFill>
        <p:spPr>
          <a:xfrm>
            <a:off x="6231377" y="1007368"/>
            <a:ext cx="5305193" cy="3535462"/>
          </a:xfrm>
          <a:prstGeom prst="rect">
            <a:avLst/>
          </a:prstGeom>
        </p:spPr>
      </p:pic>
      <p:sp>
        <p:nvSpPr>
          <p:cNvPr id="7" name="Text 3"/>
          <p:cNvSpPr/>
          <p:nvPr/>
        </p:nvSpPr>
        <p:spPr>
          <a:xfrm>
            <a:off x="6231377" y="4625365"/>
            <a:ext cx="5305193" cy="165497"/>
          </a:xfrm>
          <a:prstGeom prst="rect">
            <a:avLst/>
          </a:prstGeom>
          <a:noFill/>
          <a:ln/>
        </p:spPr>
        <p:txBody>
          <a:bodyPr wrap="none" lIns="0" tIns="0" rIns="0" bIns="0" rtlCol="0" anchor="t"/>
          <a:lstStyle/>
          <a:p>
            <a:pPr algn="l" indent="0" marL="0">
              <a:lnSpc>
                <a:spcPct val="104000"/>
              </a:lnSpc>
              <a:buNone/>
            </a:pPr>
            <a:r>
              <a:rPr lang="en-US" sz="1000" dirty="0">
                <a:solidFill>
                  <a:srgbClr val="3B4540"/>
                </a:solidFill>
                <a:latin typeface="Fraunces ExtraBold" pitchFamily="34" charset="0"/>
                <a:ea typeface="Fraunces ExtraBold" pitchFamily="34" charset="-122"/>
                <a:cs typeface="Fraunces ExtraBold" pitchFamily="34" charset="0"/>
              </a:rPr>
              <a:t>Vertical Green Integration</a:t>
            </a:r>
            <a:endParaRPr lang="en-US" sz="1000" dirty="0"/>
          </a:p>
        </p:txBody>
      </p:sp>
      <p:sp>
        <p:nvSpPr>
          <p:cNvPr id="8" name="Text 4"/>
          <p:cNvSpPr/>
          <p:nvPr/>
        </p:nvSpPr>
        <p:spPr>
          <a:xfrm>
            <a:off x="6231377" y="4852491"/>
            <a:ext cx="5305193" cy="417016"/>
          </a:xfrm>
          <a:prstGeom prst="rect">
            <a:avLst/>
          </a:prstGeom>
          <a:noFill/>
          <a:ln/>
        </p:spPr>
        <p:txBody>
          <a:bodyPr wrap="square" lIns="0" tIns="0" rIns="0" bIns="0" rtlCol="0" anchor="t">
            <a:normAutofit/>
          </a:bodyPr>
          <a:lstStyle/>
          <a:p>
            <a:pPr algn="l" indent="0" marL="0">
              <a:lnSpc>
                <a:spcPct val="109000"/>
              </a:lnSpc>
              <a:buNone/>
            </a:pPr>
            <a:r>
              <a:rPr lang="en-US" sz="800" dirty="0">
                <a:solidFill>
                  <a:srgbClr val="405449"/>
                </a:solidFill>
                <a:latin typeface="Nobile" pitchFamily="34" charset="0"/>
                <a:ea typeface="Nobile" pitchFamily="34" charset="-122"/>
                <a:cs typeface="Nobile" pitchFamily="34" charset="0"/>
              </a:rPr>
              <a:t>Mixed-use developments with integrated green infrastructure demonstrate how buildings can contribute to urban ecology. Rooftop gardens, living walls, and solar installations transform structures from environmental burdens into productive community assets that generate energy, food, and habitat.</a:t>
            </a:r>
            <a:endParaRPr lang="en-US" sz="800" dirty="0"/>
          </a:p>
        </p:txBody>
      </p:sp>
      <p:sp>
        <p:nvSpPr>
          <p:cNvPr id="9" name="Shape 5"/>
          <p:cNvSpPr/>
          <p:nvPr/>
        </p:nvSpPr>
        <p:spPr>
          <a:xfrm>
            <a:off x="661475" y="5406827"/>
            <a:ext cx="10868745" cy="459680"/>
          </a:xfrm>
          <a:prstGeom prst="roundRect">
            <a:avLst>
              <a:gd name="adj" fmla="val 20744"/>
            </a:avLst>
          </a:prstGeom>
          <a:solidFill>
            <a:srgbClr val="DDEEE0"/>
          </a:solidFill>
          <a:ln/>
        </p:spPr>
      </p:sp>
      <p:pic>
        <p:nvPicPr>
          <p:cNvPr id="10" name="Image 2" descr="preencoded.png">    </p:cNvPr>
          <p:cNvPicPr>
            <a:picLocks noChangeAspect="1"/>
          </p:cNvPicPr>
          <p:nvPr/>
        </p:nvPicPr>
        <p:blipFill>
          <a:blip r:embed="rId3"/>
          <a:stretch>
            <a:fillRect/>
          </a:stretch>
        </p:blipFill>
        <p:spPr>
          <a:xfrm>
            <a:off x="767339" y="5503664"/>
            <a:ext cx="132355" cy="105866"/>
          </a:xfrm>
          <a:prstGeom prst="rect">
            <a:avLst/>
          </a:prstGeom>
        </p:spPr>
      </p:pic>
      <p:sp>
        <p:nvSpPr>
          <p:cNvPr id="11" name="Text 6"/>
          <p:cNvSpPr/>
          <p:nvPr/>
        </p:nvSpPr>
        <p:spPr>
          <a:xfrm>
            <a:off x="1005557" y="5501084"/>
            <a:ext cx="10418800" cy="278011"/>
          </a:xfrm>
          <a:prstGeom prst="rect">
            <a:avLst/>
          </a:prstGeom>
          <a:noFill/>
          <a:ln/>
        </p:spPr>
        <p:txBody>
          <a:bodyPr wrap="square" lIns="0" tIns="0" rIns="0" bIns="0" rtlCol="0" anchor="t">
            <a:normAutofit/>
          </a:bodyPr>
          <a:lstStyle/>
          <a:p>
            <a:pPr algn="l" indent="0" marL="0">
              <a:lnSpc>
                <a:spcPct val="109000"/>
              </a:lnSpc>
              <a:buNone/>
            </a:pPr>
            <a:r>
              <a:rPr lang="en-US" sz="800" i="1" dirty="0">
                <a:solidFill>
                  <a:srgbClr val="000000"/>
                </a:solidFill>
                <a:latin typeface="Nobile" pitchFamily="34" charset="0"/>
                <a:ea typeface="Nobile" pitchFamily="34" charset="-122"/>
                <a:cs typeface="Nobile" pitchFamily="34" charset="0"/>
              </a:rPr>
              <a:t>Green corridors and mixed-use zones foster community and sustainability by creating spaces where environmental stewardship and human activity naturally intersect, building stronger neighborhoods while protecting urban ecosystems.</a:t>
            </a:r>
            <a:endParaRPr lang="en-US" sz="800" dirty="0"/>
          </a:p>
        </p:txBody>
      </p:sp>
      <p:sp>
        <p:nvSpPr>
          <p:cNvPr id="12" name="Text 7"/>
          <p:cNvSpPr/>
          <p:nvPr/>
        </p:nvSpPr>
        <p:spPr>
          <a:xfrm>
            <a:off x="661475" y="5942806"/>
            <a:ext cx="10868745" cy="417016"/>
          </a:xfrm>
          <a:prstGeom prst="rect">
            <a:avLst/>
          </a:prstGeom>
          <a:noFill/>
          <a:ln/>
        </p:spPr>
        <p:txBody>
          <a:bodyPr wrap="square" lIns="0" tIns="0" rIns="0" bIns="0" rtlCol="0" anchor="t">
            <a:normAutofit/>
          </a:bodyPr>
          <a:lstStyle/>
          <a:p>
            <a:pPr algn="l" indent="0" marL="0">
              <a:lnSpc>
                <a:spcPct val="109000"/>
              </a:lnSpc>
              <a:buNone/>
            </a:pPr>
            <a:r>
              <a:rPr lang="en-US" sz="800" dirty="0">
                <a:solidFill>
                  <a:srgbClr val="405449"/>
                </a:solidFill>
                <a:latin typeface="Nobile" pitchFamily="34" charset="0"/>
                <a:ea typeface="Nobile" pitchFamily="34" charset="-122"/>
                <a:cs typeface="Nobile" pitchFamily="34" charset="0"/>
              </a:rPr>
              <a:t>The transformation from traditional urban design to green city layouts requires reimagining how we use vertical and horizontal space. Green corridors act as the circulatory system of sustainable cities, connecting isolated green spaces into a cohesive network that supports both human and ecological health. When combined with thoughtful mixed-use development, these systems create neighborhoods where residents can live, work, and play within walking distance while maintaining deep connections to nature.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94906"/>
            <a:ext cx="10868745" cy="508695"/>
          </a:xfrm>
          <a:prstGeom prst="rect">
            <a:avLst/>
          </a:prstGeom>
          <a:noFill/>
          <a:ln/>
        </p:spPr>
        <p:txBody>
          <a:bodyPr wrap="none" lIns="0" tIns="0" rIns="0" bIns="0" rtlCol="0" anchor="t"/>
          <a:lstStyle/>
          <a:p>
            <a:pPr algn="l" indent="0" marL="0">
              <a:lnSpc>
                <a:spcPct val="104000"/>
              </a:lnSpc>
              <a:buNone/>
            </a:pPr>
            <a:r>
              <a:rPr lang="en-US" sz="3200" dirty="0">
                <a:solidFill>
                  <a:srgbClr val="3B4540"/>
                </a:solidFill>
                <a:latin typeface="Fraunces ExtraBold" pitchFamily="34" charset="0"/>
                <a:ea typeface="Fraunces ExtraBold" pitchFamily="34" charset="-122"/>
                <a:cs typeface="Fraunces ExtraBold" pitchFamily="34" charset="0"/>
              </a:rPr>
              <a:t>Smart Infrastructure for Clean Cities</a:t>
            </a:r>
            <a:endParaRPr lang="en-US" sz="3200" dirty="0"/>
          </a:p>
        </p:txBody>
      </p:sp>
      <p:sp>
        <p:nvSpPr>
          <p:cNvPr id="3" name="Text 1"/>
          <p:cNvSpPr/>
          <p:nvPr/>
        </p:nvSpPr>
        <p:spPr>
          <a:xfrm>
            <a:off x="661475" y="1302048"/>
            <a:ext cx="325529" cy="203498"/>
          </a:xfrm>
          <a:prstGeom prst="rect">
            <a:avLst/>
          </a:prstGeom>
          <a:noFill/>
          <a:ln/>
        </p:spPr>
        <p:txBody>
          <a:bodyPr wrap="none" lIns="0" tIns="0" rIns="0" bIns="0" rtlCol="0" anchor="ctr"/>
          <a:lstStyle/>
          <a:p>
            <a:pPr algn="l" indent="0" marL="0">
              <a:lnSpc>
                <a:spcPct val="100000"/>
              </a:lnSpc>
              <a:buNone/>
            </a:pPr>
            <a:r>
              <a:rPr lang="en-US" sz="1250" dirty="0">
                <a:solidFill>
                  <a:srgbClr val="405449"/>
                </a:solidFill>
                <a:latin typeface="Fraunces ExtraBold" pitchFamily="34" charset="0"/>
                <a:ea typeface="Fraunces ExtraBold" pitchFamily="34" charset="-122"/>
                <a:cs typeface="Fraunces ExtraBold" pitchFamily="34" charset="0"/>
              </a:rPr>
              <a:t>01</a:t>
            </a:r>
            <a:endParaRPr lang="en-US" sz="1250" dirty="0"/>
          </a:p>
        </p:txBody>
      </p:sp>
      <p:sp>
        <p:nvSpPr>
          <p:cNvPr id="4" name="Shape 2"/>
          <p:cNvSpPr/>
          <p:nvPr/>
        </p:nvSpPr>
        <p:spPr>
          <a:xfrm>
            <a:off x="661475" y="1559719"/>
            <a:ext cx="3516026" cy="19050"/>
          </a:xfrm>
          <a:prstGeom prst="rect">
            <a:avLst/>
          </a:prstGeom>
          <a:solidFill>
            <a:srgbClr val="438951"/>
          </a:solidFill>
          <a:ln/>
        </p:spPr>
      </p:sp>
      <p:sp>
        <p:nvSpPr>
          <p:cNvPr id="5" name="Text 3"/>
          <p:cNvSpPr/>
          <p:nvPr/>
        </p:nvSpPr>
        <p:spPr>
          <a:xfrm>
            <a:off x="661475" y="1679178"/>
            <a:ext cx="3516026" cy="508595"/>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405449"/>
                </a:solidFill>
                <a:latin typeface="Fraunces ExtraBold" pitchFamily="34" charset="0"/>
                <a:ea typeface="Fraunces ExtraBold" pitchFamily="34" charset="-122"/>
                <a:cs typeface="Fraunces ExtraBold" pitchFamily="34" charset="0"/>
              </a:rPr>
              <a:t>IoT-Enabled Resource Management</a:t>
            </a:r>
            <a:endParaRPr lang="en-US" sz="1600" dirty="0"/>
          </a:p>
        </p:txBody>
      </p:sp>
      <p:sp>
        <p:nvSpPr>
          <p:cNvPr id="6" name="Text 4"/>
          <p:cNvSpPr/>
          <p:nvPr/>
        </p:nvSpPr>
        <p:spPr>
          <a:xfrm>
            <a:off x="661475" y="2283916"/>
            <a:ext cx="3516026" cy="2067719"/>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405449"/>
                </a:solidFill>
                <a:latin typeface="Nobile" pitchFamily="34" charset="0"/>
                <a:ea typeface="Nobile" pitchFamily="34" charset="-122"/>
                <a:cs typeface="Nobile" pitchFamily="34" charset="0"/>
              </a:rPr>
              <a:t>Internet of Things sensors throughout the city monitor waste levels, water quality, air pollution, and energy consumption in real-time. This data enables city managers to optimize collection routes, prevent system failures, and respond quickly to environmental challenges, reducing costs while improving service quality.</a:t>
            </a:r>
            <a:endParaRPr lang="en-US" sz="1250" dirty="0"/>
          </a:p>
        </p:txBody>
      </p:sp>
      <p:sp>
        <p:nvSpPr>
          <p:cNvPr id="7" name="Text 5"/>
          <p:cNvSpPr/>
          <p:nvPr/>
        </p:nvSpPr>
        <p:spPr>
          <a:xfrm>
            <a:off x="4337735" y="1302048"/>
            <a:ext cx="325529" cy="203498"/>
          </a:xfrm>
          <a:prstGeom prst="rect">
            <a:avLst/>
          </a:prstGeom>
          <a:noFill/>
          <a:ln/>
        </p:spPr>
        <p:txBody>
          <a:bodyPr wrap="none" lIns="0" tIns="0" rIns="0" bIns="0" rtlCol="0" anchor="ctr"/>
          <a:lstStyle/>
          <a:p>
            <a:pPr algn="l" indent="0" marL="0">
              <a:lnSpc>
                <a:spcPct val="100000"/>
              </a:lnSpc>
              <a:buNone/>
            </a:pPr>
            <a:r>
              <a:rPr lang="en-US" sz="1250" dirty="0">
                <a:solidFill>
                  <a:srgbClr val="405449"/>
                </a:solidFill>
                <a:latin typeface="Fraunces ExtraBold" pitchFamily="34" charset="0"/>
                <a:ea typeface="Fraunces ExtraBold" pitchFamily="34" charset="-122"/>
                <a:cs typeface="Fraunces ExtraBold" pitchFamily="34" charset="0"/>
              </a:rPr>
              <a:t>02</a:t>
            </a:r>
            <a:endParaRPr lang="en-US" sz="1250" dirty="0"/>
          </a:p>
        </p:txBody>
      </p:sp>
      <p:sp>
        <p:nvSpPr>
          <p:cNvPr id="8" name="Shape 6"/>
          <p:cNvSpPr/>
          <p:nvPr/>
        </p:nvSpPr>
        <p:spPr>
          <a:xfrm>
            <a:off x="4337735" y="1559719"/>
            <a:ext cx="3516125" cy="19050"/>
          </a:xfrm>
          <a:prstGeom prst="rect">
            <a:avLst/>
          </a:prstGeom>
          <a:solidFill>
            <a:srgbClr val="438951"/>
          </a:solidFill>
          <a:ln/>
        </p:spPr>
      </p:sp>
      <p:sp>
        <p:nvSpPr>
          <p:cNvPr id="9" name="Text 7"/>
          <p:cNvSpPr/>
          <p:nvPr/>
        </p:nvSpPr>
        <p:spPr>
          <a:xfrm>
            <a:off x="4337735" y="1679178"/>
            <a:ext cx="3516125" cy="254298"/>
          </a:xfrm>
          <a:prstGeom prst="rect">
            <a:avLst/>
          </a:prstGeom>
          <a:noFill/>
          <a:ln/>
        </p:spPr>
        <p:txBody>
          <a:bodyPr wrap="none" lIns="0" tIns="0" rIns="0" bIns="0" rtlCol="0" anchor="t"/>
          <a:lstStyle/>
          <a:p>
            <a:pPr algn="l" indent="0" marL="0">
              <a:lnSpc>
                <a:spcPct val="104000"/>
              </a:lnSpc>
              <a:buNone/>
            </a:pPr>
            <a:r>
              <a:rPr lang="en-US" sz="1600" dirty="0">
                <a:solidFill>
                  <a:srgbClr val="405449"/>
                </a:solidFill>
                <a:latin typeface="Fraunces ExtraBold" pitchFamily="34" charset="0"/>
                <a:ea typeface="Fraunces ExtraBold" pitchFamily="34" charset="-122"/>
                <a:cs typeface="Fraunces ExtraBold" pitchFamily="34" charset="0"/>
              </a:rPr>
              <a:t>Nature-Based Solutions</a:t>
            </a:r>
            <a:endParaRPr lang="en-US" sz="1600" dirty="0"/>
          </a:p>
        </p:txBody>
      </p:sp>
      <p:sp>
        <p:nvSpPr>
          <p:cNvPr id="10" name="Text 8"/>
          <p:cNvSpPr/>
          <p:nvPr/>
        </p:nvSpPr>
        <p:spPr>
          <a:xfrm>
            <a:off x="4337735" y="2029619"/>
            <a:ext cx="3516125" cy="2067719"/>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405449"/>
                </a:solidFill>
                <a:latin typeface="Nobile" pitchFamily="34" charset="0"/>
                <a:ea typeface="Nobile" pitchFamily="34" charset="-122"/>
                <a:cs typeface="Nobile" pitchFamily="34" charset="0"/>
              </a:rPr>
              <a:t>Green stormwater infrastructure including bioswales, permeable pavements, and constructed wetlands manage rainfall naturally while filtering pollutants. These systems reduce flooding risks, recharge groundwater, and create beautiful urban landscapes that enhance property values and community well-being.</a:t>
            </a:r>
            <a:endParaRPr lang="en-US" sz="1250" dirty="0"/>
          </a:p>
        </p:txBody>
      </p:sp>
      <p:sp>
        <p:nvSpPr>
          <p:cNvPr id="11" name="Text 9"/>
          <p:cNvSpPr/>
          <p:nvPr/>
        </p:nvSpPr>
        <p:spPr>
          <a:xfrm>
            <a:off x="8014095" y="1302048"/>
            <a:ext cx="325529" cy="203498"/>
          </a:xfrm>
          <a:prstGeom prst="rect">
            <a:avLst/>
          </a:prstGeom>
          <a:noFill/>
          <a:ln/>
        </p:spPr>
        <p:txBody>
          <a:bodyPr wrap="none" lIns="0" tIns="0" rIns="0" bIns="0" rtlCol="0" anchor="ctr"/>
          <a:lstStyle/>
          <a:p>
            <a:pPr algn="l" indent="0" marL="0">
              <a:lnSpc>
                <a:spcPct val="100000"/>
              </a:lnSpc>
              <a:buNone/>
            </a:pPr>
            <a:r>
              <a:rPr lang="en-US" sz="1250" dirty="0">
                <a:solidFill>
                  <a:srgbClr val="405449"/>
                </a:solidFill>
                <a:latin typeface="Fraunces ExtraBold" pitchFamily="34" charset="0"/>
                <a:ea typeface="Fraunces ExtraBold" pitchFamily="34" charset="-122"/>
                <a:cs typeface="Fraunces ExtraBold" pitchFamily="34" charset="0"/>
              </a:rPr>
              <a:t>03</a:t>
            </a:r>
            <a:endParaRPr lang="en-US" sz="1250" dirty="0"/>
          </a:p>
        </p:txBody>
      </p:sp>
      <p:sp>
        <p:nvSpPr>
          <p:cNvPr id="12" name="Shape 10"/>
          <p:cNvSpPr/>
          <p:nvPr/>
        </p:nvSpPr>
        <p:spPr>
          <a:xfrm>
            <a:off x="8014095" y="1559719"/>
            <a:ext cx="3516125" cy="19050"/>
          </a:xfrm>
          <a:prstGeom prst="rect">
            <a:avLst/>
          </a:prstGeom>
          <a:solidFill>
            <a:srgbClr val="438951"/>
          </a:solidFill>
          <a:ln/>
        </p:spPr>
      </p:sp>
      <p:sp>
        <p:nvSpPr>
          <p:cNvPr id="13" name="Text 11"/>
          <p:cNvSpPr/>
          <p:nvPr/>
        </p:nvSpPr>
        <p:spPr>
          <a:xfrm>
            <a:off x="8014095" y="1679178"/>
            <a:ext cx="3516125" cy="508595"/>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405449"/>
                </a:solidFill>
                <a:latin typeface="Fraunces ExtraBold" pitchFamily="34" charset="0"/>
                <a:ea typeface="Fraunces ExtraBold" pitchFamily="34" charset="-122"/>
                <a:cs typeface="Fraunces ExtraBold" pitchFamily="34" charset="0"/>
              </a:rPr>
              <a:t>Energy-Efficient Building Systems</a:t>
            </a:r>
            <a:endParaRPr lang="en-US" sz="1600" dirty="0"/>
          </a:p>
        </p:txBody>
      </p:sp>
      <p:sp>
        <p:nvSpPr>
          <p:cNvPr id="14" name="Text 12"/>
          <p:cNvSpPr/>
          <p:nvPr/>
        </p:nvSpPr>
        <p:spPr>
          <a:xfrm>
            <a:off x="8014095" y="2283916"/>
            <a:ext cx="3516125" cy="2067719"/>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405449"/>
                </a:solidFill>
                <a:latin typeface="Nobile" pitchFamily="34" charset="0"/>
                <a:ea typeface="Nobile" pitchFamily="34" charset="-122"/>
                <a:cs typeface="Nobile" pitchFamily="34" charset="0"/>
              </a:rPr>
              <a:t>Smart buildings with advanced automation, renewable energy integration, and sustainable materials minimize carbon footprints while maximizing occupant comfort. These structures use machine learning to optimize heating, cooling, and lighting based on usage patterns and environmental conditions.</a:t>
            </a:r>
            <a:endParaRPr lang="en-US" sz="1250" dirty="0"/>
          </a:p>
        </p:txBody>
      </p:sp>
      <p:sp>
        <p:nvSpPr>
          <p:cNvPr id="15" name="Text 13"/>
          <p:cNvSpPr/>
          <p:nvPr/>
        </p:nvSpPr>
        <p:spPr>
          <a:xfrm>
            <a:off x="661475" y="4653955"/>
            <a:ext cx="10868745" cy="1731070"/>
          </a:xfrm>
          <a:prstGeom prst="rect">
            <a:avLst/>
          </a:prstGeom>
          <a:noFill/>
          <a:ln/>
        </p:spPr>
        <p:txBody>
          <a:bodyPr wrap="square" lIns="0" tIns="0" rIns="0" bIns="0" rtlCol="0" anchor="t">
            <a:normAutofit/>
          </a:bodyPr>
          <a:lstStyle/>
          <a:p>
            <a:pPr algn="l" indent="0" marL="0">
              <a:lnSpc>
                <a:spcPct val="132000"/>
              </a:lnSpc>
              <a:spcAft>
                <a:spcPts val="1400"/>
              </a:spcAft>
              <a:buNone/>
            </a:pPr>
            <a:r>
              <a:rPr lang="en-US" sz="1250" dirty="0">
                <a:solidFill>
                  <a:srgbClr val="405449"/>
                </a:solidFill>
                <a:latin typeface="Nobile" pitchFamily="34" charset="0"/>
                <a:ea typeface="Nobile" pitchFamily="34" charset="-122"/>
                <a:cs typeface="Nobile" pitchFamily="34" charset="0"/>
              </a:rPr>
              <a:t>The convergence of digital technology and environmental science is creating unprecedented opportunities for urban sustainability. Smart infrastructure systems don't just reduce environmental impact – they create more resilient, responsive cities that can adapt to changing conditions and citizen needs.</a:t>
            </a:r>
            <a:endParaRPr lang="en-US" sz="1250" dirty="0"/>
          </a:p>
          <a:p>
            <a:pPr algn="l" indent="0" marL="0">
              <a:lnSpc>
                <a:spcPct val="132000"/>
              </a:lnSpc>
              <a:buNone/>
            </a:pPr>
            <a:r>
              <a:rPr lang="en-US" sz="1250" dirty="0">
                <a:solidFill>
                  <a:srgbClr val="405449"/>
                </a:solidFill>
                <a:latin typeface="Nobile" pitchFamily="34" charset="0"/>
                <a:ea typeface="Nobile" pitchFamily="34" charset="-122"/>
                <a:cs typeface="Nobile" pitchFamily="34" charset="0"/>
              </a:rPr>
              <a:t>These intelligent systems work together to create feedback loops that continuously improve city performance. As sensors collect data on everything from traffic patterns to energy usage, machine learning algorithms identify optimization opportunities that human managers might miss, creating cities that literally learn and improve over time.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91668"/>
            <a:ext cx="10868745" cy="315020"/>
          </a:xfrm>
          <a:prstGeom prst="rect">
            <a:avLst/>
          </a:prstGeom>
          <a:noFill/>
          <a:ln/>
        </p:spPr>
        <p:txBody>
          <a:bodyPr wrap="none" lIns="0" tIns="0" rIns="0" bIns="0" rtlCol="0" anchor="t"/>
          <a:lstStyle/>
          <a:p>
            <a:pPr algn="l" indent="0" marL="0">
              <a:lnSpc>
                <a:spcPct val="104000"/>
              </a:lnSpc>
              <a:buNone/>
            </a:pPr>
            <a:r>
              <a:rPr lang="en-US" sz="1950" dirty="0">
                <a:solidFill>
                  <a:srgbClr val="3B4540"/>
                </a:solidFill>
                <a:latin typeface="Fraunces ExtraBold" pitchFamily="34" charset="0"/>
                <a:ea typeface="Fraunces ExtraBold" pitchFamily="34" charset="-122"/>
                <a:cs typeface="Fraunces ExtraBold" pitchFamily="34" charset="0"/>
              </a:rPr>
              <a:t>Two Content Pictures: Smart Waste Management &amp; Green Stormwater Systems</a:t>
            </a:r>
            <a:endParaRPr lang="en-US" sz="1950" dirty="0"/>
          </a:p>
        </p:txBody>
      </p:sp>
      <p:pic>
        <p:nvPicPr>
          <p:cNvPr id="3" name="Image 0" descr="preencoded.png">    </p:cNvPr>
          <p:cNvPicPr>
            <a:picLocks noChangeAspect="1"/>
          </p:cNvPicPr>
          <p:nvPr/>
        </p:nvPicPr>
        <p:blipFill>
          <a:blip r:embed="rId1"/>
          <a:stretch>
            <a:fillRect/>
          </a:stretch>
        </p:blipFill>
        <p:spPr>
          <a:xfrm>
            <a:off x="661475" y="954484"/>
            <a:ext cx="5311444" cy="3539827"/>
          </a:xfrm>
          <a:prstGeom prst="rect">
            <a:avLst/>
          </a:prstGeom>
        </p:spPr>
      </p:pic>
      <p:sp>
        <p:nvSpPr>
          <p:cNvPr id="4" name="Text 1"/>
          <p:cNvSpPr/>
          <p:nvPr/>
        </p:nvSpPr>
        <p:spPr>
          <a:xfrm>
            <a:off x="661475" y="4568448"/>
            <a:ext cx="5311444" cy="157460"/>
          </a:xfrm>
          <a:prstGeom prst="rect">
            <a:avLst/>
          </a:prstGeom>
          <a:noFill/>
          <a:ln/>
        </p:spPr>
        <p:txBody>
          <a:bodyPr wrap="none" lIns="0" tIns="0" rIns="0" bIns="0" rtlCol="0" anchor="t"/>
          <a:lstStyle/>
          <a:p>
            <a:pPr algn="l" indent="0" marL="0">
              <a:lnSpc>
                <a:spcPct val="104000"/>
              </a:lnSpc>
              <a:buNone/>
            </a:pPr>
            <a:r>
              <a:rPr lang="en-US" sz="950" dirty="0">
                <a:solidFill>
                  <a:srgbClr val="3B4540"/>
                </a:solidFill>
                <a:latin typeface="Fraunces ExtraBold" pitchFamily="34" charset="0"/>
                <a:ea typeface="Fraunces ExtraBold" pitchFamily="34" charset="-122"/>
                <a:cs typeface="Fraunces ExtraBold" pitchFamily="34" charset="0"/>
              </a:rPr>
              <a:t>Intelligent Waste Systems</a:t>
            </a:r>
            <a:endParaRPr lang="en-US" sz="950" dirty="0"/>
          </a:p>
        </p:txBody>
      </p:sp>
      <p:sp>
        <p:nvSpPr>
          <p:cNvPr id="5" name="Text 2"/>
          <p:cNvSpPr/>
          <p:nvPr/>
        </p:nvSpPr>
        <p:spPr>
          <a:xfrm>
            <a:off x="661475" y="4782245"/>
            <a:ext cx="5311444" cy="519113"/>
          </a:xfrm>
          <a:prstGeom prst="rect">
            <a:avLst/>
          </a:prstGeom>
          <a:noFill/>
          <a:ln/>
        </p:spPr>
        <p:txBody>
          <a:bodyPr wrap="square" lIns="0" tIns="0" rIns="0" bIns="0" rtlCol="0" anchor="t">
            <a:normAutofit/>
          </a:bodyPr>
          <a:lstStyle/>
          <a:p>
            <a:pPr algn="l" indent="0" marL="0">
              <a:lnSpc>
                <a:spcPct val="107000"/>
              </a:lnSpc>
              <a:buNone/>
            </a:pPr>
            <a:r>
              <a:rPr lang="en-US" sz="750" dirty="0">
                <a:solidFill>
                  <a:srgbClr val="405449"/>
                </a:solidFill>
                <a:latin typeface="Nobile" pitchFamily="34" charset="0"/>
                <a:ea typeface="Nobile" pitchFamily="34" charset="-122"/>
                <a:cs typeface="Nobile" pitchFamily="34" charset="0"/>
              </a:rPr>
              <a:t>Smart bins equipped with fill-level sensors, compaction mechanisms, and solar-powered communication systems revolutionize waste collection. These systems reduce truck emissions by 30% through optimized routes, prevent overflow situations, and provide real-time data on waste generation patterns that inform recycling programs and policy decisions.</a:t>
            </a:r>
            <a:endParaRPr lang="en-US" sz="750" dirty="0"/>
          </a:p>
        </p:txBody>
      </p:sp>
      <p:pic>
        <p:nvPicPr>
          <p:cNvPr id="6" name="Image 1" descr="preencoded.png">    </p:cNvPr>
          <p:cNvPicPr>
            <a:picLocks noChangeAspect="1"/>
          </p:cNvPicPr>
          <p:nvPr/>
        </p:nvPicPr>
        <p:blipFill>
          <a:blip r:embed="rId2"/>
          <a:stretch>
            <a:fillRect/>
          </a:stretch>
        </p:blipFill>
        <p:spPr>
          <a:xfrm>
            <a:off x="6225126" y="954484"/>
            <a:ext cx="5311444" cy="2060873"/>
          </a:xfrm>
          <a:prstGeom prst="rect">
            <a:avLst/>
          </a:prstGeom>
        </p:spPr>
      </p:pic>
      <p:sp>
        <p:nvSpPr>
          <p:cNvPr id="7" name="Text 3"/>
          <p:cNvSpPr/>
          <p:nvPr/>
        </p:nvSpPr>
        <p:spPr>
          <a:xfrm>
            <a:off x="6225126" y="3089493"/>
            <a:ext cx="5311444" cy="157460"/>
          </a:xfrm>
          <a:prstGeom prst="rect">
            <a:avLst/>
          </a:prstGeom>
          <a:noFill/>
          <a:ln/>
        </p:spPr>
        <p:txBody>
          <a:bodyPr wrap="none" lIns="0" tIns="0" rIns="0" bIns="0" rtlCol="0" anchor="t"/>
          <a:lstStyle/>
          <a:p>
            <a:pPr algn="l" indent="0" marL="0">
              <a:lnSpc>
                <a:spcPct val="104000"/>
              </a:lnSpc>
              <a:buNone/>
            </a:pPr>
            <a:r>
              <a:rPr lang="en-US" sz="950" dirty="0">
                <a:solidFill>
                  <a:srgbClr val="3B4540"/>
                </a:solidFill>
                <a:latin typeface="Fraunces ExtraBold" pitchFamily="34" charset="0"/>
                <a:ea typeface="Fraunces ExtraBold" pitchFamily="34" charset="-122"/>
                <a:cs typeface="Fraunces ExtraBold" pitchFamily="34" charset="0"/>
              </a:rPr>
              <a:t>Green Stormwater Infrastructure</a:t>
            </a:r>
            <a:endParaRPr lang="en-US" sz="950" dirty="0"/>
          </a:p>
        </p:txBody>
      </p:sp>
      <p:sp>
        <p:nvSpPr>
          <p:cNvPr id="8" name="Text 4"/>
          <p:cNvSpPr/>
          <p:nvPr/>
        </p:nvSpPr>
        <p:spPr>
          <a:xfrm>
            <a:off x="6225126" y="3303290"/>
            <a:ext cx="5311444" cy="389334"/>
          </a:xfrm>
          <a:prstGeom prst="rect">
            <a:avLst/>
          </a:prstGeom>
          <a:noFill/>
          <a:ln/>
        </p:spPr>
        <p:txBody>
          <a:bodyPr wrap="square" lIns="0" tIns="0" rIns="0" bIns="0" rtlCol="0" anchor="t">
            <a:normAutofit/>
          </a:bodyPr>
          <a:lstStyle/>
          <a:p>
            <a:pPr algn="l" indent="0" marL="0">
              <a:lnSpc>
                <a:spcPct val="107000"/>
              </a:lnSpc>
              <a:buNone/>
            </a:pPr>
            <a:r>
              <a:rPr lang="en-US" sz="750" dirty="0">
                <a:solidFill>
                  <a:srgbClr val="405449"/>
                </a:solidFill>
                <a:latin typeface="Nobile" pitchFamily="34" charset="0"/>
                <a:ea typeface="Nobile" pitchFamily="34" charset="-122"/>
                <a:cs typeface="Nobile" pitchFamily="34" charset="0"/>
              </a:rPr>
              <a:t>Bioswales, rain gardens, and permeable surfaces replace traditional concrete drainage with living systems that naturally filter pollutants and manage runoff. These installations reduce strain on sewer systems by up to 85% during peak rainfall while creating habitat corridors and improving neighborhood aesthetics.</a:t>
            </a:r>
            <a:endParaRPr lang="en-US" sz="750" dirty="0"/>
          </a:p>
        </p:txBody>
      </p:sp>
      <p:sp>
        <p:nvSpPr>
          <p:cNvPr id="9" name="Shape 5"/>
          <p:cNvSpPr/>
          <p:nvPr/>
        </p:nvSpPr>
        <p:spPr>
          <a:xfrm>
            <a:off x="661475" y="5425678"/>
            <a:ext cx="10868745" cy="296664"/>
          </a:xfrm>
          <a:prstGeom prst="roundRect">
            <a:avLst>
              <a:gd name="adj" fmla="val 30576"/>
            </a:avLst>
          </a:prstGeom>
          <a:solidFill>
            <a:srgbClr val="DDEEE0"/>
          </a:solidFill>
          <a:ln/>
        </p:spPr>
      </p:sp>
      <p:pic>
        <p:nvPicPr>
          <p:cNvPr id="10" name="Image 2" descr="preencoded.png">    </p:cNvPr>
          <p:cNvPicPr>
            <a:picLocks noChangeAspect="1"/>
          </p:cNvPicPr>
          <p:nvPr/>
        </p:nvPicPr>
        <p:blipFill>
          <a:blip r:embed="rId3"/>
          <a:stretch>
            <a:fillRect/>
          </a:stretch>
        </p:blipFill>
        <p:spPr>
          <a:xfrm>
            <a:off x="762179" y="5512891"/>
            <a:ext cx="125905" cy="100707"/>
          </a:xfrm>
          <a:prstGeom prst="rect">
            <a:avLst/>
          </a:prstGeom>
        </p:spPr>
      </p:pic>
      <p:sp>
        <p:nvSpPr>
          <p:cNvPr id="11" name="Text 6"/>
          <p:cNvSpPr/>
          <p:nvPr/>
        </p:nvSpPr>
        <p:spPr>
          <a:xfrm>
            <a:off x="988789" y="5512197"/>
            <a:ext cx="11050311" cy="129778"/>
          </a:xfrm>
          <a:prstGeom prst="rect">
            <a:avLst/>
          </a:prstGeom>
          <a:noFill/>
          <a:ln/>
        </p:spPr>
        <p:txBody>
          <a:bodyPr wrap="none" lIns="0" tIns="0" rIns="0" bIns="0" rtlCol="0" anchor="t"/>
          <a:lstStyle/>
          <a:p>
            <a:pPr algn="l" indent="0" marL="0">
              <a:lnSpc>
                <a:spcPct val="107000"/>
              </a:lnSpc>
              <a:buNone/>
            </a:pPr>
            <a:r>
              <a:rPr lang="en-US" sz="750" i="1" dirty="0">
                <a:solidFill>
                  <a:srgbClr val="000000"/>
                </a:solidFill>
                <a:latin typeface="Nobile" pitchFamily="34" charset="0"/>
                <a:ea typeface="Nobile" pitchFamily="34" charset="-122"/>
                <a:cs typeface="Nobile" pitchFamily="34" charset="0"/>
              </a:rPr>
              <a:t>Technology and nature-based solutions work hand-in-hand for urban resilience, demonstrating that the most effective sustainability strategies combine digital innovation with ecological wisdom.</a:t>
            </a:r>
            <a:endParaRPr lang="en-US" sz="750" dirty="0"/>
          </a:p>
        </p:txBody>
      </p:sp>
      <p:sp>
        <p:nvSpPr>
          <p:cNvPr id="12" name="Text 7"/>
          <p:cNvSpPr/>
          <p:nvPr/>
        </p:nvSpPr>
        <p:spPr>
          <a:xfrm>
            <a:off x="661475" y="5791398"/>
            <a:ext cx="10868745" cy="588169"/>
          </a:xfrm>
          <a:prstGeom prst="rect">
            <a:avLst/>
          </a:prstGeom>
          <a:noFill/>
          <a:ln/>
        </p:spPr>
        <p:txBody>
          <a:bodyPr wrap="square" lIns="0" tIns="0" rIns="0" bIns="0" rtlCol="0" anchor="t">
            <a:normAutofit/>
          </a:bodyPr>
          <a:lstStyle/>
          <a:p>
            <a:pPr algn="l" indent="0" marL="0">
              <a:lnSpc>
                <a:spcPct val="107000"/>
              </a:lnSpc>
              <a:spcAft>
                <a:spcPts val="500"/>
              </a:spcAft>
              <a:buNone/>
            </a:pPr>
            <a:r>
              <a:rPr lang="en-US" sz="750" dirty="0">
                <a:solidFill>
                  <a:srgbClr val="405449"/>
                </a:solidFill>
                <a:latin typeface="Nobile" pitchFamily="34" charset="0"/>
                <a:ea typeface="Nobile" pitchFamily="34" charset="-122"/>
                <a:cs typeface="Nobile" pitchFamily="34" charset="0"/>
              </a:rPr>
              <a:t>The integration of smart technology with natural systems represents a paradigm shift in urban infrastructure. Rather than fighting against natural processes, these solutions harness them to create more efficient, cost-effective city services. Smart waste management alone can reduce collection costs by 40% while improving cleanliness and public health outcomes.</a:t>
            </a:r>
            <a:endParaRPr lang="en-US" sz="750" dirty="0"/>
          </a:p>
          <a:p>
            <a:pPr algn="l" indent="0" marL="0">
              <a:lnSpc>
                <a:spcPct val="107000"/>
              </a:lnSpc>
              <a:buNone/>
            </a:pPr>
            <a:r>
              <a:rPr lang="en-US" sz="750" dirty="0">
                <a:solidFill>
                  <a:srgbClr val="405449"/>
                </a:solidFill>
                <a:latin typeface="Nobile" pitchFamily="34" charset="0"/>
                <a:ea typeface="Nobile" pitchFamily="34" charset="-122"/>
                <a:cs typeface="Nobile" pitchFamily="34" charset="0"/>
              </a:rPr>
              <a:t>Green stormwater systems provide multiple co-benefits beyond flood control. They cool urban temperatures, support pollinator populations, and create community gathering spaces that strengthen social bonds. When residents see technology and nature working together in their neighborhoods, it builds support for broader sustainability initiatives.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79501"/>
            <a:ext cx="10868745" cy="468412"/>
          </a:xfrm>
          <a:prstGeom prst="rect">
            <a:avLst/>
          </a:prstGeom>
          <a:noFill/>
          <a:ln/>
        </p:spPr>
        <p:txBody>
          <a:bodyPr wrap="none" lIns="0" tIns="0" rIns="0" bIns="0" rtlCol="0" anchor="t"/>
          <a:lstStyle/>
          <a:p>
            <a:pPr algn="l" indent="0" marL="0">
              <a:lnSpc>
                <a:spcPct val="104000"/>
              </a:lnSpc>
              <a:buNone/>
            </a:pPr>
            <a:r>
              <a:rPr lang="en-US" sz="2950" dirty="0">
                <a:solidFill>
                  <a:srgbClr val="3B4540"/>
                </a:solidFill>
                <a:latin typeface="Fraunces ExtraBold" pitchFamily="34" charset="0"/>
                <a:ea typeface="Fraunces ExtraBold" pitchFamily="34" charset="-122"/>
                <a:cs typeface="Fraunces ExtraBold" pitchFamily="34" charset="0"/>
              </a:rPr>
              <a:t>Case Study: Tiruvalla's Clean and Green City Initiative</a:t>
            </a:r>
            <a:endParaRPr lang="en-US" sz="2950" dirty="0"/>
          </a:p>
        </p:txBody>
      </p:sp>
      <p:sp>
        <p:nvSpPr>
          <p:cNvPr id="3" name="Shape 1"/>
          <p:cNvSpPr/>
          <p:nvPr/>
        </p:nvSpPr>
        <p:spPr>
          <a:xfrm>
            <a:off x="6086323" y="1200150"/>
            <a:ext cx="19050" cy="3520480"/>
          </a:xfrm>
          <a:prstGeom prst="roundRect">
            <a:avLst>
              <a:gd name="adj" fmla="val 49999"/>
            </a:avLst>
          </a:prstGeom>
          <a:solidFill>
            <a:srgbClr val="CED9CE"/>
          </a:solidFill>
          <a:ln/>
        </p:spPr>
      </p:sp>
      <p:sp>
        <p:nvSpPr>
          <p:cNvPr id="4" name="Shape 2"/>
          <p:cNvSpPr/>
          <p:nvPr/>
        </p:nvSpPr>
        <p:spPr>
          <a:xfrm>
            <a:off x="5496631" y="1359198"/>
            <a:ext cx="449648" cy="19050"/>
          </a:xfrm>
          <a:prstGeom prst="roundRect">
            <a:avLst>
              <a:gd name="adj" fmla="val 49999"/>
            </a:avLst>
          </a:prstGeom>
          <a:solidFill>
            <a:srgbClr val="CED9CE"/>
          </a:solidFill>
          <a:ln/>
        </p:spPr>
      </p:sp>
      <p:sp>
        <p:nvSpPr>
          <p:cNvPr id="5" name="Shape 3"/>
          <p:cNvSpPr/>
          <p:nvPr/>
        </p:nvSpPr>
        <p:spPr>
          <a:xfrm>
            <a:off x="5927229" y="1200150"/>
            <a:ext cx="337236" cy="337245"/>
          </a:xfrm>
          <a:prstGeom prst="roundRect">
            <a:avLst>
              <a:gd name="adj" fmla="val 40001"/>
            </a:avLst>
          </a:prstGeom>
          <a:solidFill>
            <a:srgbClr val="E8F3E8"/>
          </a:solidFill>
          <a:ln/>
        </p:spPr>
      </p:sp>
      <p:sp>
        <p:nvSpPr>
          <p:cNvPr id="6" name="Text 4"/>
          <p:cNvSpPr/>
          <p:nvPr/>
        </p:nvSpPr>
        <p:spPr>
          <a:xfrm>
            <a:off x="5983386" y="1228229"/>
            <a:ext cx="224824" cy="280988"/>
          </a:xfrm>
          <a:prstGeom prst="rect">
            <a:avLst/>
          </a:prstGeom>
          <a:noFill/>
          <a:ln/>
        </p:spPr>
        <p:txBody>
          <a:bodyPr wrap="none" lIns="0" tIns="0" rIns="0" bIns="0" rtlCol="0" anchor="ctr"/>
          <a:lstStyle/>
          <a:p>
            <a:pPr algn="ctr" indent="0" marL="0">
              <a:lnSpc>
                <a:spcPct val="100000"/>
              </a:lnSpc>
              <a:buNone/>
            </a:pPr>
            <a:r>
              <a:rPr lang="en-US" sz="1750" dirty="0">
                <a:solidFill>
                  <a:srgbClr val="405449"/>
                </a:solidFill>
                <a:latin typeface="Fraunces ExtraBold" pitchFamily="34" charset="0"/>
                <a:ea typeface="Fraunces ExtraBold" pitchFamily="34" charset="-122"/>
                <a:cs typeface="Fraunces ExtraBold" pitchFamily="34" charset="0"/>
              </a:rPr>
              <a:t>1</a:t>
            </a:r>
            <a:endParaRPr lang="en-US" sz="1750" dirty="0"/>
          </a:p>
        </p:txBody>
      </p:sp>
      <p:sp>
        <p:nvSpPr>
          <p:cNvPr id="7" name="Text 5"/>
          <p:cNvSpPr/>
          <p:nvPr/>
        </p:nvSpPr>
        <p:spPr>
          <a:xfrm>
            <a:off x="661475" y="1251645"/>
            <a:ext cx="4684992" cy="234156"/>
          </a:xfrm>
          <a:prstGeom prst="rect">
            <a:avLst/>
          </a:prstGeom>
          <a:noFill/>
          <a:ln/>
        </p:spPr>
        <p:txBody>
          <a:bodyPr wrap="none" lIns="0" tIns="0" rIns="0" bIns="0" rtlCol="0" anchor="t"/>
          <a:lstStyle/>
          <a:p>
            <a:pPr algn="r" indent="0" marL="0">
              <a:lnSpc>
                <a:spcPct val="104000"/>
              </a:lnSpc>
              <a:buNone/>
            </a:pPr>
            <a:r>
              <a:rPr lang="en-US" sz="1450" dirty="0">
                <a:solidFill>
                  <a:srgbClr val="405449"/>
                </a:solidFill>
                <a:latin typeface="Fraunces ExtraBold" pitchFamily="34" charset="0"/>
                <a:ea typeface="Fraunces ExtraBold" pitchFamily="34" charset="-122"/>
                <a:cs typeface="Fraunces ExtraBold" pitchFamily="34" charset="0"/>
              </a:rPr>
              <a:t>Community-Driven Waste Programs</a:t>
            </a:r>
            <a:endParaRPr lang="en-US" sz="1450" dirty="0"/>
          </a:p>
        </p:txBody>
      </p:sp>
      <p:sp>
        <p:nvSpPr>
          <p:cNvPr id="8" name="Text 6"/>
          <p:cNvSpPr/>
          <p:nvPr/>
        </p:nvSpPr>
        <p:spPr>
          <a:xfrm>
            <a:off x="661475" y="1567259"/>
            <a:ext cx="4684992" cy="1371600"/>
          </a:xfrm>
          <a:prstGeom prst="rect">
            <a:avLst/>
          </a:prstGeom>
          <a:noFill/>
          <a:ln/>
        </p:spPr>
        <p:txBody>
          <a:bodyPr wrap="square" lIns="0" tIns="0" rIns="0" bIns="0" rtlCol="0" anchor="t">
            <a:normAutofit/>
          </a:bodyPr>
          <a:lstStyle/>
          <a:p>
            <a:pPr algn="r" indent="0" marL="0">
              <a:lnSpc>
                <a:spcPct val="127000"/>
              </a:lnSpc>
              <a:buNone/>
            </a:pPr>
            <a:r>
              <a:rPr lang="en-US" sz="1150" dirty="0">
                <a:solidFill>
                  <a:srgbClr val="405449"/>
                </a:solidFill>
                <a:latin typeface="Nobile" pitchFamily="34" charset="0"/>
                <a:ea typeface="Nobile" pitchFamily="34" charset="-122"/>
                <a:cs typeface="Nobile" pitchFamily="34" charset="0"/>
              </a:rPr>
              <a:t>Tiruvalla implemented comprehensive waste segregation at source with resident training programs and community composting centers. This grassroots approach achieved 95% household participation and reduced landfill waste by 60%, proving that citizen engagement is essential for sustainable city initiatives.</a:t>
            </a:r>
            <a:endParaRPr lang="en-US" sz="1150" dirty="0"/>
          </a:p>
        </p:txBody>
      </p:sp>
      <p:sp>
        <p:nvSpPr>
          <p:cNvPr id="9" name="Shape 7"/>
          <p:cNvSpPr/>
          <p:nvPr/>
        </p:nvSpPr>
        <p:spPr>
          <a:xfrm>
            <a:off x="6245416" y="2230338"/>
            <a:ext cx="449648" cy="19050"/>
          </a:xfrm>
          <a:prstGeom prst="roundRect">
            <a:avLst>
              <a:gd name="adj" fmla="val 49999"/>
            </a:avLst>
          </a:prstGeom>
          <a:solidFill>
            <a:srgbClr val="CED9CE"/>
          </a:solidFill>
          <a:ln/>
        </p:spPr>
      </p:sp>
      <p:sp>
        <p:nvSpPr>
          <p:cNvPr id="10" name="Shape 8"/>
          <p:cNvSpPr/>
          <p:nvPr/>
        </p:nvSpPr>
        <p:spPr>
          <a:xfrm>
            <a:off x="5927229" y="2071291"/>
            <a:ext cx="337236" cy="337245"/>
          </a:xfrm>
          <a:prstGeom prst="roundRect">
            <a:avLst>
              <a:gd name="adj" fmla="val 40001"/>
            </a:avLst>
          </a:prstGeom>
          <a:solidFill>
            <a:srgbClr val="E8F3E8"/>
          </a:solidFill>
          <a:ln/>
        </p:spPr>
      </p:sp>
      <p:sp>
        <p:nvSpPr>
          <p:cNvPr id="11" name="Text 9"/>
          <p:cNvSpPr/>
          <p:nvPr/>
        </p:nvSpPr>
        <p:spPr>
          <a:xfrm>
            <a:off x="5983386" y="2099370"/>
            <a:ext cx="224824" cy="280988"/>
          </a:xfrm>
          <a:prstGeom prst="rect">
            <a:avLst/>
          </a:prstGeom>
          <a:noFill/>
          <a:ln/>
        </p:spPr>
        <p:txBody>
          <a:bodyPr wrap="none" lIns="0" tIns="0" rIns="0" bIns="0" rtlCol="0" anchor="ctr"/>
          <a:lstStyle/>
          <a:p>
            <a:pPr algn="ctr" indent="0" marL="0">
              <a:lnSpc>
                <a:spcPct val="100000"/>
              </a:lnSpc>
              <a:buNone/>
            </a:pPr>
            <a:r>
              <a:rPr lang="en-US" sz="1750" dirty="0">
                <a:solidFill>
                  <a:srgbClr val="405449"/>
                </a:solidFill>
                <a:latin typeface="Fraunces ExtraBold" pitchFamily="34" charset="0"/>
                <a:ea typeface="Fraunces ExtraBold" pitchFamily="34" charset="-122"/>
                <a:cs typeface="Fraunces ExtraBold" pitchFamily="34" charset="0"/>
              </a:rPr>
              <a:t>2</a:t>
            </a:r>
            <a:endParaRPr lang="en-US" sz="1750" dirty="0"/>
          </a:p>
        </p:txBody>
      </p:sp>
      <p:sp>
        <p:nvSpPr>
          <p:cNvPr id="12" name="Text 10"/>
          <p:cNvSpPr/>
          <p:nvPr/>
        </p:nvSpPr>
        <p:spPr>
          <a:xfrm>
            <a:off x="6845228" y="2122785"/>
            <a:ext cx="4684992" cy="234156"/>
          </a:xfrm>
          <a:prstGeom prst="rect">
            <a:avLst/>
          </a:prstGeom>
          <a:noFill/>
          <a:ln/>
        </p:spPr>
        <p:txBody>
          <a:bodyPr wrap="none" lIns="0" tIns="0" rIns="0" bIns="0" rtlCol="0" anchor="t"/>
          <a:lstStyle/>
          <a:p>
            <a:pPr algn="l" indent="0" marL="0">
              <a:lnSpc>
                <a:spcPct val="104000"/>
              </a:lnSpc>
              <a:buNone/>
            </a:pPr>
            <a:r>
              <a:rPr lang="en-US" sz="1450" dirty="0">
                <a:solidFill>
                  <a:srgbClr val="405449"/>
                </a:solidFill>
                <a:latin typeface="Fraunces ExtraBold" pitchFamily="34" charset="0"/>
                <a:ea typeface="Fraunces ExtraBold" pitchFamily="34" charset="-122"/>
                <a:cs typeface="Fraunces ExtraBold" pitchFamily="34" charset="0"/>
              </a:rPr>
              <a:t>"One Sapling Per House" Campaign</a:t>
            </a:r>
            <a:endParaRPr lang="en-US" sz="1450" dirty="0"/>
          </a:p>
        </p:txBody>
      </p:sp>
      <p:sp>
        <p:nvSpPr>
          <p:cNvPr id="13" name="Text 11"/>
          <p:cNvSpPr/>
          <p:nvPr/>
        </p:nvSpPr>
        <p:spPr>
          <a:xfrm>
            <a:off x="6845228" y="2438400"/>
            <a:ext cx="4684992" cy="11430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405449"/>
                </a:solidFill>
                <a:latin typeface="Nobile" pitchFamily="34" charset="0"/>
                <a:ea typeface="Nobile" pitchFamily="34" charset="-122"/>
                <a:cs typeface="Nobile" pitchFamily="34" charset="0"/>
              </a:rPr>
              <a:t>The city launched an ambitious urban greening program requiring each household to plant and maintain a tree. This initiative increased urban canopy cover by 35% over three years while fostering environmental stewardship and community pride in neighborhood beautification efforts.</a:t>
            </a:r>
            <a:endParaRPr lang="en-US" sz="1150" dirty="0"/>
          </a:p>
        </p:txBody>
      </p:sp>
      <p:sp>
        <p:nvSpPr>
          <p:cNvPr id="14" name="Shape 12"/>
          <p:cNvSpPr/>
          <p:nvPr/>
        </p:nvSpPr>
        <p:spPr>
          <a:xfrm>
            <a:off x="5496631" y="3369568"/>
            <a:ext cx="449648" cy="19050"/>
          </a:xfrm>
          <a:prstGeom prst="roundRect">
            <a:avLst>
              <a:gd name="adj" fmla="val 49999"/>
            </a:avLst>
          </a:prstGeom>
          <a:solidFill>
            <a:srgbClr val="CED9CE"/>
          </a:solidFill>
          <a:ln/>
        </p:spPr>
      </p:sp>
      <p:sp>
        <p:nvSpPr>
          <p:cNvPr id="15" name="Shape 13"/>
          <p:cNvSpPr/>
          <p:nvPr/>
        </p:nvSpPr>
        <p:spPr>
          <a:xfrm>
            <a:off x="5927229" y="3210520"/>
            <a:ext cx="337236" cy="337245"/>
          </a:xfrm>
          <a:prstGeom prst="roundRect">
            <a:avLst>
              <a:gd name="adj" fmla="val 40001"/>
            </a:avLst>
          </a:prstGeom>
          <a:solidFill>
            <a:srgbClr val="E8F3E8"/>
          </a:solidFill>
          <a:ln/>
        </p:spPr>
      </p:sp>
      <p:sp>
        <p:nvSpPr>
          <p:cNvPr id="16" name="Text 14"/>
          <p:cNvSpPr/>
          <p:nvPr/>
        </p:nvSpPr>
        <p:spPr>
          <a:xfrm>
            <a:off x="5983386" y="3238599"/>
            <a:ext cx="224824" cy="280988"/>
          </a:xfrm>
          <a:prstGeom prst="rect">
            <a:avLst/>
          </a:prstGeom>
          <a:noFill/>
          <a:ln/>
        </p:spPr>
        <p:txBody>
          <a:bodyPr wrap="none" lIns="0" tIns="0" rIns="0" bIns="0" rtlCol="0" anchor="ctr"/>
          <a:lstStyle/>
          <a:p>
            <a:pPr algn="ctr" indent="0" marL="0">
              <a:lnSpc>
                <a:spcPct val="100000"/>
              </a:lnSpc>
              <a:buNone/>
            </a:pPr>
            <a:r>
              <a:rPr lang="en-US" sz="1750" dirty="0">
                <a:solidFill>
                  <a:srgbClr val="405449"/>
                </a:solidFill>
                <a:latin typeface="Fraunces ExtraBold" pitchFamily="34" charset="0"/>
                <a:ea typeface="Fraunces ExtraBold" pitchFamily="34" charset="-122"/>
                <a:cs typeface="Fraunces ExtraBold" pitchFamily="34" charset="0"/>
              </a:rPr>
              <a:t>3</a:t>
            </a:r>
            <a:endParaRPr lang="en-US" sz="1750" dirty="0"/>
          </a:p>
        </p:txBody>
      </p:sp>
      <p:sp>
        <p:nvSpPr>
          <p:cNvPr id="17" name="Text 15"/>
          <p:cNvSpPr/>
          <p:nvPr/>
        </p:nvSpPr>
        <p:spPr>
          <a:xfrm>
            <a:off x="661475" y="3262015"/>
            <a:ext cx="4684992" cy="234156"/>
          </a:xfrm>
          <a:prstGeom prst="rect">
            <a:avLst/>
          </a:prstGeom>
          <a:noFill/>
          <a:ln/>
        </p:spPr>
        <p:txBody>
          <a:bodyPr wrap="none" lIns="0" tIns="0" rIns="0" bIns="0" rtlCol="0" anchor="t"/>
          <a:lstStyle/>
          <a:p>
            <a:pPr algn="r" indent="0" marL="0">
              <a:lnSpc>
                <a:spcPct val="104000"/>
              </a:lnSpc>
              <a:buNone/>
            </a:pPr>
            <a:r>
              <a:rPr lang="en-US" sz="1450" dirty="0">
                <a:solidFill>
                  <a:srgbClr val="405449"/>
                </a:solidFill>
                <a:latin typeface="Fraunces ExtraBold" pitchFamily="34" charset="0"/>
                <a:ea typeface="Fraunces ExtraBold" pitchFamily="34" charset="-122"/>
                <a:cs typeface="Fraunces ExtraBold" pitchFamily="34" charset="0"/>
              </a:rPr>
              <a:t>"Sun Heart" Solar Initiative</a:t>
            </a:r>
            <a:endParaRPr lang="en-US" sz="1450" dirty="0"/>
          </a:p>
        </p:txBody>
      </p:sp>
      <p:sp>
        <p:nvSpPr>
          <p:cNvPr id="18" name="Text 16"/>
          <p:cNvSpPr/>
          <p:nvPr/>
        </p:nvSpPr>
        <p:spPr>
          <a:xfrm>
            <a:off x="661475" y="3577630"/>
            <a:ext cx="4684992" cy="1143000"/>
          </a:xfrm>
          <a:prstGeom prst="rect">
            <a:avLst/>
          </a:prstGeom>
          <a:noFill/>
          <a:ln/>
        </p:spPr>
        <p:txBody>
          <a:bodyPr wrap="square" lIns="0" tIns="0" rIns="0" bIns="0" rtlCol="0" anchor="t">
            <a:normAutofit/>
          </a:bodyPr>
          <a:lstStyle/>
          <a:p>
            <a:pPr algn="r" indent="0" marL="0">
              <a:lnSpc>
                <a:spcPct val="127000"/>
              </a:lnSpc>
              <a:buNone/>
            </a:pPr>
            <a:r>
              <a:rPr lang="en-US" sz="1150" dirty="0">
                <a:solidFill>
                  <a:srgbClr val="405449"/>
                </a:solidFill>
                <a:latin typeface="Nobile" pitchFamily="34" charset="0"/>
                <a:ea typeface="Nobile" pitchFamily="34" charset="-122"/>
                <a:cs typeface="Nobile" pitchFamily="34" charset="0"/>
              </a:rPr>
              <a:t>Through subsidies, group purchasing programs, and technical support, Tiruvalla accelerated residential solar adoption. The campaign achieved 40% household solar coverage, reducing grid dependency and demonstrating how policy incentives can drive renewable energy transition at the community level.</a:t>
            </a:r>
            <a:endParaRPr lang="en-US" sz="1150" dirty="0"/>
          </a:p>
        </p:txBody>
      </p:sp>
      <p:sp>
        <p:nvSpPr>
          <p:cNvPr id="19" name="Text 17"/>
          <p:cNvSpPr/>
          <p:nvPr/>
        </p:nvSpPr>
        <p:spPr>
          <a:xfrm>
            <a:off x="661475" y="4873427"/>
            <a:ext cx="10868745" cy="1524397"/>
          </a:xfrm>
          <a:prstGeom prst="rect">
            <a:avLst/>
          </a:prstGeom>
          <a:noFill/>
          <a:ln/>
        </p:spPr>
        <p:txBody>
          <a:bodyPr wrap="square" lIns="0" tIns="0" rIns="0" bIns="0" rtlCol="0" anchor="t">
            <a:normAutofit/>
          </a:bodyPr>
          <a:lstStyle/>
          <a:p>
            <a:pPr algn="l" indent="0" marL="0">
              <a:lnSpc>
                <a:spcPct val="127000"/>
              </a:lnSpc>
              <a:spcAft>
                <a:spcPts val="1200"/>
              </a:spcAft>
              <a:buNone/>
            </a:pPr>
            <a:r>
              <a:rPr lang="en-US" sz="1150" dirty="0">
                <a:solidFill>
                  <a:srgbClr val="405449"/>
                </a:solidFill>
                <a:latin typeface="Nobile" pitchFamily="34" charset="0"/>
                <a:ea typeface="Nobile" pitchFamily="34" charset="-122"/>
                <a:cs typeface="Nobile" pitchFamily="34" charset="0"/>
              </a:rPr>
              <a:t>Tiruvalla's success demonstrates that effective green city transformation requires more than top-down planning – it demands authentic community participation and locally-tailored solutions. The city's integrated approach addressing waste, greenery, and energy simultaneously created synergies that amplified the impact of each individual program.</a:t>
            </a:r>
            <a:endParaRPr lang="en-US" sz="1150" dirty="0"/>
          </a:p>
          <a:p>
            <a:pPr algn="l" indent="0" marL="0">
              <a:lnSpc>
                <a:spcPct val="127000"/>
              </a:lnSpc>
              <a:buNone/>
            </a:pPr>
            <a:r>
              <a:rPr lang="en-US" sz="1150" dirty="0">
                <a:solidFill>
                  <a:srgbClr val="405449"/>
                </a:solidFill>
                <a:latin typeface="Nobile" pitchFamily="34" charset="0"/>
                <a:ea typeface="Nobile" pitchFamily="34" charset="-122"/>
                <a:cs typeface="Nobile" pitchFamily="34" charset="0"/>
              </a:rPr>
              <a:t>What makes Tiruvalla's model particularly replicable is its focus on behavioral change alongside infrastructure development. By making environmental stewardship a source of community pride and social connection, the city created lasting cultural shifts that will sustain these initiatives for generations to come.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30984"/>
            <a:ext cx="10868745" cy="710605"/>
          </a:xfrm>
          <a:prstGeom prst="rect">
            <a:avLst/>
          </a:prstGeom>
          <a:noFill/>
          <a:ln/>
        </p:spPr>
        <p:txBody>
          <a:bodyPr wrap="square" lIns="0" tIns="0" rIns="0" bIns="0" rtlCol="0" anchor="t">
            <a:normAutofit/>
          </a:bodyPr>
          <a:lstStyle/>
          <a:p>
            <a:pPr algn="l" indent="0" marL="0">
              <a:lnSpc>
                <a:spcPct val="104000"/>
              </a:lnSpc>
              <a:buNone/>
            </a:pPr>
            <a:r>
              <a:rPr lang="en-US" sz="2200" dirty="0">
                <a:solidFill>
                  <a:srgbClr val="3B4540"/>
                </a:solidFill>
                <a:latin typeface="Fraunces ExtraBold" pitchFamily="34" charset="0"/>
                <a:ea typeface="Fraunces ExtraBold" pitchFamily="34" charset="-122"/>
                <a:cs typeface="Fraunces ExtraBold" pitchFamily="34" charset="0"/>
              </a:rPr>
              <a:t>Two Content Pictures: Community Green Initiatives &amp; Solar Panels on Homes</a:t>
            </a:r>
            <a:endParaRPr lang="en-US" sz="2200" dirty="0"/>
          </a:p>
        </p:txBody>
      </p:sp>
      <p:pic>
        <p:nvPicPr>
          <p:cNvPr id="3" name="Image 0" descr="preencoded.png">    </p:cNvPr>
          <p:cNvPicPr>
            <a:picLocks noChangeAspect="1"/>
          </p:cNvPicPr>
          <p:nvPr/>
        </p:nvPicPr>
        <p:blipFill>
          <a:blip r:embed="rId1"/>
          <a:stretch>
            <a:fillRect/>
          </a:stretch>
        </p:blipFill>
        <p:spPr>
          <a:xfrm>
            <a:off x="661475" y="1430734"/>
            <a:ext cx="3404507" cy="2494359"/>
          </a:xfrm>
          <a:prstGeom prst="rect">
            <a:avLst/>
          </a:prstGeom>
        </p:spPr>
      </p:pic>
      <p:sp>
        <p:nvSpPr>
          <p:cNvPr id="4" name="Text 1"/>
          <p:cNvSpPr/>
          <p:nvPr/>
        </p:nvSpPr>
        <p:spPr>
          <a:xfrm>
            <a:off x="661475" y="4019384"/>
            <a:ext cx="5295668" cy="177701"/>
          </a:xfrm>
          <a:prstGeom prst="rect">
            <a:avLst/>
          </a:prstGeom>
          <a:noFill/>
          <a:ln/>
        </p:spPr>
        <p:txBody>
          <a:bodyPr wrap="none" lIns="0" tIns="0" rIns="0" bIns="0" rtlCol="0" anchor="t"/>
          <a:lstStyle/>
          <a:p>
            <a:pPr algn="l" indent="0" marL="0">
              <a:lnSpc>
                <a:spcPct val="104000"/>
              </a:lnSpc>
              <a:buNone/>
            </a:pPr>
            <a:r>
              <a:rPr lang="en-US" sz="1100" dirty="0">
                <a:solidFill>
                  <a:srgbClr val="3B4540"/>
                </a:solidFill>
                <a:latin typeface="Fraunces ExtraBold" pitchFamily="34" charset="0"/>
                <a:ea typeface="Fraunces ExtraBold" pitchFamily="34" charset="-122"/>
                <a:cs typeface="Fraunces ExtraBold" pitchFamily="34" charset="0"/>
              </a:rPr>
              <a:t>Grassroots Environmental Action</a:t>
            </a:r>
            <a:endParaRPr lang="en-US" sz="1100" dirty="0"/>
          </a:p>
        </p:txBody>
      </p:sp>
      <p:sp>
        <p:nvSpPr>
          <p:cNvPr id="5" name="Text 2"/>
          <p:cNvSpPr/>
          <p:nvPr/>
        </p:nvSpPr>
        <p:spPr>
          <a:xfrm>
            <a:off x="661475" y="4268788"/>
            <a:ext cx="5295668" cy="613966"/>
          </a:xfrm>
          <a:prstGeom prst="rect">
            <a:avLst/>
          </a:prstGeom>
          <a:noFill/>
          <a:ln/>
        </p:spPr>
        <p:txBody>
          <a:bodyPr wrap="square" lIns="0" tIns="0" rIns="0" bIns="0" rtlCol="0" anchor="t">
            <a:normAutofit/>
          </a:bodyPr>
          <a:lstStyle/>
          <a:p>
            <a:pPr algn="l" indent="0" marL="0">
              <a:lnSpc>
                <a:spcPct val="112000"/>
              </a:lnSpc>
              <a:buNone/>
            </a:pPr>
            <a:r>
              <a:rPr lang="en-US" sz="850" dirty="0">
                <a:solidFill>
                  <a:srgbClr val="405449"/>
                </a:solidFill>
                <a:latin typeface="Nobile" pitchFamily="34" charset="0"/>
                <a:ea typeface="Nobile" pitchFamily="34" charset="-122"/>
                <a:cs typeface="Nobile" pitchFamily="34" charset="0"/>
              </a:rPr>
              <a:t>Community tree-planting events transform neighborhoods while building social cohesion. These initiatives demonstrate how environmental action can strengthen civic engagement, with residents taking ownership of their local environment and creating networks of environmental stewardship that extend far beyond individual households.</a:t>
            </a:r>
            <a:endParaRPr lang="en-US" sz="850" dirty="0"/>
          </a:p>
        </p:txBody>
      </p:sp>
      <p:pic>
        <p:nvPicPr>
          <p:cNvPr id="6" name="Image 1" descr="preencoded.png">    </p:cNvPr>
          <p:cNvPicPr>
            <a:picLocks noChangeAspect="1"/>
          </p:cNvPicPr>
          <p:nvPr/>
        </p:nvPicPr>
        <p:blipFill>
          <a:blip r:embed="rId2"/>
          <a:stretch>
            <a:fillRect/>
          </a:stretch>
        </p:blipFill>
        <p:spPr>
          <a:xfrm>
            <a:off x="6240902" y="1430734"/>
            <a:ext cx="3449452" cy="2494359"/>
          </a:xfrm>
          <a:prstGeom prst="rect">
            <a:avLst/>
          </a:prstGeom>
        </p:spPr>
      </p:pic>
      <p:sp>
        <p:nvSpPr>
          <p:cNvPr id="7" name="Text 3"/>
          <p:cNvSpPr/>
          <p:nvPr/>
        </p:nvSpPr>
        <p:spPr>
          <a:xfrm>
            <a:off x="6240902" y="4019384"/>
            <a:ext cx="5295668" cy="177701"/>
          </a:xfrm>
          <a:prstGeom prst="rect">
            <a:avLst/>
          </a:prstGeom>
          <a:noFill/>
          <a:ln/>
        </p:spPr>
        <p:txBody>
          <a:bodyPr wrap="none" lIns="0" tIns="0" rIns="0" bIns="0" rtlCol="0" anchor="t"/>
          <a:lstStyle/>
          <a:p>
            <a:pPr algn="l" indent="0" marL="0">
              <a:lnSpc>
                <a:spcPct val="104000"/>
              </a:lnSpc>
              <a:buNone/>
            </a:pPr>
            <a:r>
              <a:rPr lang="en-US" sz="1100" dirty="0">
                <a:solidFill>
                  <a:srgbClr val="3B4540"/>
                </a:solidFill>
                <a:latin typeface="Fraunces ExtraBold" pitchFamily="34" charset="0"/>
                <a:ea typeface="Fraunces ExtraBold" pitchFamily="34" charset="-122"/>
                <a:cs typeface="Fraunces ExtraBold" pitchFamily="34" charset="0"/>
              </a:rPr>
              <a:t>Distributed Renewable Energy</a:t>
            </a:r>
            <a:endParaRPr lang="en-US" sz="1100" dirty="0"/>
          </a:p>
        </p:txBody>
      </p:sp>
      <p:sp>
        <p:nvSpPr>
          <p:cNvPr id="8" name="Text 4"/>
          <p:cNvSpPr/>
          <p:nvPr/>
        </p:nvSpPr>
        <p:spPr>
          <a:xfrm>
            <a:off x="6240902" y="4268788"/>
            <a:ext cx="5295668" cy="613966"/>
          </a:xfrm>
          <a:prstGeom prst="rect">
            <a:avLst/>
          </a:prstGeom>
          <a:noFill/>
          <a:ln/>
        </p:spPr>
        <p:txBody>
          <a:bodyPr wrap="square" lIns="0" tIns="0" rIns="0" bIns="0" rtlCol="0" anchor="t">
            <a:normAutofit/>
          </a:bodyPr>
          <a:lstStyle/>
          <a:p>
            <a:pPr algn="l" indent="0" marL="0">
              <a:lnSpc>
                <a:spcPct val="112000"/>
              </a:lnSpc>
              <a:buNone/>
            </a:pPr>
            <a:r>
              <a:rPr lang="en-US" sz="850" dirty="0">
                <a:solidFill>
                  <a:srgbClr val="405449"/>
                </a:solidFill>
                <a:latin typeface="Nobile" pitchFamily="34" charset="0"/>
                <a:ea typeface="Nobile" pitchFamily="34" charset="-122"/>
                <a:cs typeface="Nobile" pitchFamily="34" charset="0"/>
              </a:rPr>
              <a:t>Rooftop solar installations create energy independence while reducing utility costs for families. The visual impact of solar panels throughout neighborhoods signals community commitment to sustainability and encourages additional adoptions through social influence and peer-to-peer learning about renewable energy benefits.</a:t>
            </a:r>
            <a:endParaRPr lang="en-US" sz="850" dirty="0"/>
          </a:p>
        </p:txBody>
      </p:sp>
      <p:sp>
        <p:nvSpPr>
          <p:cNvPr id="9" name="Shape 5"/>
          <p:cNvSpPr/>
          <p:nvPr/>
        </p:nvSpPr>
        <p:spPr>
          <a:xfrm>
            <a:off x="661475" y="5041007"/>
            <a:ext cx="10868745" cy="512167"/>
          </a:xfrm>
          <a:prstGeom prst="roundRect">
            <a:avLst>
              <a:gd name="adj" fmla="val 19981"/>
            </a:avLst>
          </a:prstGeom>
          <a:solidFill>
            <a:srgbClr val="DDEEE0"/>
          </a:solidFill>
          <a:ln/>
        </p:spPr>
      </p:sp>
      <p:pic>
        <p:nvPicPr>
          <p:cNvPr id="10" name="Image 2" descr="preencoded.png">    </p:cNvPr>
          <p:cNvPicPr>
            <a:picLocks noChangeAspect="1"/>
          </p:cNvPicPr>
          <p:nvPr/>
        </p:nvPicPr>
        <p:blipFill>
          <a:blip r:embed="rId3"/>
          <a:stretch>
            <a:fillRect/>
          </a:stretch>
        </p:blipFill>
        <p:spPr>
          <a:xfrm>
            <a:off x="775177" y="5149552"/>
            <a:ext cx="142078" cy="113705"/>
          </a:xfrm>
          <a:prstGeom prst="rect">
            <a:avLst/>
          </a:prstGeom>
        </p:spPr>
      </p:pic>
      <p:sp>
        <p:nvSpPr>
          <p:cNvPr id="11" name="Text 6"/>
          <p:cNvSpPr/>
          <p:nvPr/>
        </p:nvSpPr>
        <p:spPr>
          <a:xfrm>
            <a:off x="1030956" y="5147469"/>
            <a:ext cx="10385562" cy="306983"/>
          </a:xfrm>
          <a:prstGeom prst="rect">
            <a:avLst/>
          </a:prstGeom>
          <a:noFill/>
          <a:ln/>
        </p:spPr>
        <p:txBody>
          <a:bodyPr wrap="square" lIns="0" tIns="0" rIns="0" bIns="0" rtlCol="0" anchor="t">
            <a:normAutofit/>
          </a:bodyPr>
          <a:lstStyle/>
          <a:p>
            <a:pPr algn="l" indent="0" marL="0">
              <a:lnSpc>
                <a:spcPct val="112000"/>
              </a:lnSpc>
              <a:buNone/>
            </a:pPr>
            <a:r>
              <a:rPr lang="en-US" sz="850" i="1" dirty="0">
                <a:solidFill>
                  <a:srgbClr val="000000"/>
                </a:solidFill>
                <a:latin typeface="Nobile" pitchFamily="34" charset="0"/>
                <a:ea typeface="Nobile" pitchFamily="34" charset="-122"/>
                <a:cs typeface="Nobile" pitchFamily="34" charset="0"/>
              </a:rPr>
              <a:t>Citizen engagement and renewable energy power Tiruvalla's green transformation, showing that sustainable cities emerge from the intersection of community action and clean technology adoption.</a:t>
            </a:r>
            <a:endParaRPr lang="en-US" sz="850" dirty="0"/>
          </a:p>
        </p:txBody>
      </p:sp>
      <p:sp>
        <p:nvSpPr>
          <p:cNvPr id="12" name="Text 7"/>
          <p:cNvSpPr/>
          <p:nvPr/>
        </p:nvSpPr>
        <p:spPr>
          <a:xfrm>
            <a:off x="661475" y="5641082"/>
            <a:ext cx="10868745" cy="701873"/>
          </a:xfrm>
          <a:prstGeom prst="rect">
            <a:avLst/>
          </a:prstGeom>
          <a:noFill/>
          <a:ln/>
        </p:spPr>
        <p:txBody>
          <a:bodyPr wrap="square" lIns="0" tIns="0" rIns="0" bIns="0" rtlCol="0" anchor="t">
            <a:normAutofit/>
          </a:bodyPr>
          <a:lstStyle/>
          <a:p>
            <a:pPr algn="l" indent="0" marL="0">
              <a:lnSpc>
                <a:spcPct val="112000"/>
              </a:lnSpc>
              <a:spcAft>
                <a:spcPts val="650"/>
              </a:spcAft>
              <a:buNone/>
            </a:pPr>
            <a:r>
              <a:rPr lang="en-US" sz="850" dirty="0">
                <a:solidFill>
                  <a:srgbClr val="405449"/>
                </a:solidFill>
                <a:latin typeface="Nobile" pitchFamily="34" charset="0"/>
                <a:ea typeface="Nobile" pitchFamily="34" charset="-122"/>
                <a:cs typeface="Nobile" pitchFamily="34" charset="0"/>
              </a:rPr>
              <a:t>Tiruvalla's experience reveals the powerful multiplier effect of combining community organizing with practical environmental solutions. When residents see their neighbors actively participating in tree planting and solar installation, it normalizes sustainable behaviors and creates positive peer pressure for broader adoption.</a:t>
            </a:r>
            <a:endParaRPr lang="en-US" sz="850" dirty="0"/>
          </a:p>
          <a:p>
            <a:pPr algn="l" indent="0" marL="0">
              <a:lnSpc>
                <a:spcPct val="112000"/>
              </a:lnSpc>
              <a:buNone/>
            </a:pPr>
            <a:r>
              <a:rPr lang="en-US" sz="850" dirty="0">
                <a:solidFill>
                  <a:srgbClr val="405449"/>
                </a:solidFill>
                <a:latin typeface="Nobile" pitchFamily="34" charset="0"/>
                <a:ea typeface="Nobile" pitchFamily="34" charset="-122"/>
                <a:cs typeface="Nobile" pitchFamily="34" charset="0"/>
              </a:rPr>
              <a:t>The city's success also highlights the importance of making environmental action visible and celebrated. Public recognition programs, community events, and neighborhood competitions transformed individual environmental choices into collective achievement, building momentum that sustained these initiatives even as political leadership changed.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24034"/>
            <a:ext cx="10868745" cy="379512"/>
          </a:xfrm>
          <a:prstGeom prst="rect">
            <a:avLst/>
          </a:prstGeom>
          <a:noFill/>
          <a:ln/>
        </p:spPr>
        <p:txBody>
          <a:bodyPr wrap="none" lIns="0" tIns="0" rIns="0" bIns="0" rtlCol="0" anchor="t"/>
          <a:lstStyle/>
          <a:p>
            <a:pPr algn="l" indent="0" marL="0">
              <a:lnSpc>
                <a:spcPct val="104000"/>
              </a:lnSpc>
              <a:buNone/>
            </a:pPr>
            <a:r>
              <a:rPr lang="en-US" sz="2350" dirty="0">
                <a:solidFill>
                  <a:srgbClr val="3B4540"/>
                </a:solidFill>
                <a:latin typeface="Fraunces ExtraBold" pitchFamily="34" charset="0"/>
                <a:ea typeface="Fraunces ExtraBold" pitchFamily="34" charset="-122"/>
                <a:cs typeface="Fraunces ExtraBold" pitchFamily="34" charset="0"/>
              </a:rPr>
              <a:t>Designing for People: Healthy, Active, and Inclusive Cities</a:t>
            </a:r>
            <a:endParaRPr lang="en-US" sz="2350" dirty="0"/>
          </a:p>
        </p:txBody>
      </p:sp>
      <p:sp>
        <p:nvSpPr>
          <p:cNvPr id="3" name="Text 1"/>
          <p:cNvSpPr/>
          <p:nvPr/>
        </p:nvSpPr>
        <p:spPr>
          <a:xfrm>
            <a:off x="661475" y="1681063"/>
            <a:ext cx="3532298" cy="189706"/>
          </a:xfrm>
          <a:prstGeom prst="rect">
            <a:avLst/>
          </a:prstGeom>
          <a:noFill/>
          <a:ln/>
        </p:spPr>
        <p:txBody>
          <a:bodyPr wrap="none" lIns="0" tIns="0" rIns="0" bIns="0" rtlCol="0" anchor="t"/>
          <a:lstStyle/>
          <a:p>
            <a:pPr algn="r" indent="0" marL="0">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0"/>
              </a:rPr>
              <a:t>Walkable Neighborhoods</a:t>
            </a:r>
            <a:endParaRPr lang="en-US" sz="1150" dirty="0"/>
          </a:p>
        </p:txBody>
      </p:sp>
      <p:sp>
        <p:nvSpPr>
          <p:cNvPr id="4" name="Text 2"/>
          <p:cNvSpPr/>
          <p:nvPr/>
        </p:nvSpPr>
        <p:spPr>
          <a:xfrm>
            <a:off x="661475" y="1924248"/>
            <a:ext cx="3532298" cy="336947"/>
          </a:xfrm>
          <a:prstGeom prst="rect">
            <a:avLst/>
          </a:prstGeom>
          <a:noFill/>
          <a:ln/>
        </p:spPr>
        <p:txBody>
          <a:bodyPr wrap="square" lIns="0" tIns="0" rIns="0" bIns="0" rtlCol="0" anchor="t">
            <a:normAutofit/>
          </a:bodyPr>
          <a:lstStyle/>
          <a:p>
            <a:pPr algn="r" indent="0" marL="0">
              <a:lnSpc>
                <a:spcPct val="116000"/>
              </a:lnSpc>
              <a:buNone/>
            </a:pPr>
            <a:r>
              <a:rPr lang="en-US" sz="950" dirty="0">
                <a:solidFill>
                  <a:srgbClr val="405449"/>
                </a:solidFill>
                <a:latin typeface="Nobile" pitchFamily="34" charset="0"/>
                <a:ea typeface="Nobile" pitchFamily="34" charset="-122"/>
                <a:cs typeface="Nobile" pitchFamily="34" charset="0"/>
              </a:rPr>
              <a:t>15-minute cities where daily needs are accessible by foot or bike</a:t>
            </a:r>
            <a:endParaRPr lang="en-US" sz="950" dirty="0"/>
          </a:p>
        </p:txBody>
      </p:sp>
      <p:pic>
        <p:nvPicPr>
          <p:cNvPr id="5" name="Image 0" descr="preencoded.png">    </p:cNvPr>
          <p:cNvPicPr>
            <a:picLocks noChangeAspect="1"/>
          </p:cNvPicPr>
          <p:nvPr/>
        </p:nvPicPr>
        <p:blipFill>
          <a:blip r:embed="rId1"/>
          <a:stretch>
            <a:fillRect/>
          </a:stretch>
        </p:blipFill>
        <p:spPr>
          <a:xfrm>
            <a:off x="4193772" y="1065709"/>
            <a:ext cx="3804051" cy="3804146"/>
          </a:xfrm>
          <a:prstGeom prst="rect">
            <a:avLst/>
          </a:prstGeom>
        </p:spPr>
      </p:pic>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17883" y="2306538"/>
            <a:ext cx="170751" cy="170755"/>
          </a:xfrm>
          <a:prstGeom prst="rect">
            <a:avLst/>
          </a:prstGeom>
        </p:spPr>
      </p:pic>
      <p:sp>
        <p:nvSpPr>
          <p:cNvPr id="7" name="Text 3"/>
          <p:cNvSpPr/>
          <p:nvPr/>
        </p:nvSpPr>
        <p:spPr>
          <a:xfrm>
            <a:off x="7997823" y="1433116"/>
            <a:ext cx="3532397" cy="189706"/>
          </a:xfrm>
          <a:prstGeom prst="rect">
            <a:avLst/>
          </a:prstGeom>
          <a:noFill/>
          <a:ln/>
        </p:spPr>
        <p:txBody>
          <a:bodyPr wrap="none" lIns="0" tIns="0" rIns="0" bIns="0" rtlCol="0" anchor="t"/>
          <a:lstStyle/>
          <a:p>
            <a:pPr algn="l" indent="0" marL="0">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0"/>
              </a:rPr>
              <a:t>Recreation Access</a:t>
            </a:r>
            <a:endParaRPr lang="en-US" sz="1150" dirty="0"/>
          </a:p>
        </p:txBody>
      </p:sp>
      <p:sp>
        <p:nvSpPr>
          <p:cNvPr id="8" name="Text 4"/>
          <p:cNvSpPr/>
          <p:nvPr/>
        </p:nvSpPr>
        <p:spPr>
          <a:xfrm>
            <a:off x="7997823" y="1676301"/>
            <a:ext cx="3532397" cy="168473"/>
          </a:xfrm>
          <a:prstGeom prst="rect">
            <a:avLst/>
          </a:prstGeom>
          <a:noFill/>
          <a:ln/>
        </p:spPr>
        <p:txBody>
          <a:bodyPr wrap="none" lIns="0" tIns="0" rIns="0" bIns="0" rtlCol="0" anchor="t"/>
          <a:lstStyle/>
          <a:p>
            <a:pPr algn="l" indent="0" marL="0">
              <a:lnSpc>
                <a:spcPct val="116000"/>
              </a:lnSpc>
              <a:buNone/>
            </a:pPr>
            <a:r>
              <a:rPr lang="en-US" sz="950" dirty="0">
                <a:solidFill>
                  <a:srgbClr val="405449"/>
                </a:solidFill>
                <a:latin typeface="Nobile" pitchFamily="34" charset="0"/>
                <a:ea typeface="Nobile" pitchFamily="34" charset="-122"/>
                <a:cs typeface="Nobile" pitchFamily="34" charset="0"/>
              </a:rPr>
              <a:t>Parks and sports facilities within 10 minutes of every home</a:t>
            </a:r>
            <a:endParaRPr lang="en-US" sz="950" dirty="0"/>
          </a:p>
        </p:txBody>
      </p:sp>
      <p:pic>
        <p:nvPicPr>
          <p:cNvPr id="9" name="Image 2" descr="preencoded.png">    </p:cNvPr>
          <p:cNvPicPr>
            <a:picLocks noChangeAspect="1"/>
          </p:cNvPicPr>
          <p:nvPr/>
        </p:nvPicPr>
        <p:blipFill>
          <a:blip r:embed="rId4"/>
          <a:stretch>
            <a:fillRect/>
          </a:stretch>
        </p:blipFill>
        <p:spPr>
          <a:xfrm>
            <a:off x="4193772" y="1065709"/>
            <a:ext cx="3804051" cy="3804146"/>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3032" y="1950641"/>
            <a:ext cx="170751" cy="170755"/>
          </a:xfrm>
          <a:prstGeom prst="rect">
            <a:avLst/>
          </a:prstGeom>
        </p:spPr>
      </p:pic>
      <p:sp>
        <p:nvSpPr>
          <p:cNvPr id="11" name="Text 5"/>
          <p:cNvSpPr/>
          <p:nvPr/>
        </p:nvSpPr>
        <p:spPr>
          <a:xfrm>
            <a:off x="8240705" y="2761853"/>
            <a:ext cx="3289515" cy="189706"/>
          </a:xfrm>
          <a:prstGeom prst="rect">
            <a:avLst/>
          </a:prstGeom>
          <a:noFill/>
          <a:ln/>
        </p:spPr>
        <p:txBody>
          <a:bodyPr wrap="none" lIns="0" tIns="0" rIns="0" bIns="0" rtlCol="0" anchor="t"/>
          <a:lstStyle/>
          <a:p>
            <a:pPr algn="l" indent="0" marL="0">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0"/>
              </a:rPr>
              <a:t>Affordable Housing</a:t>
            </a:r>
            <a:endParaRPr lang="en-US" sz="1150" dirty="0"/>
          </a:p>
        </p:txBody>
      </p:sp>
      <p:sp>
        <p:nvSpPr>
          <p:cNvPr id="12" name="Text 6"/>
          <p:cNvSpPr/>
          <p:nvPr/>
        </p:nvSpPr>
        <p:spPr>
          <a:xfrm>
            <a:off x="8240705" y="3005038"/>
            <a:ext cx="3289515" cy="168473"/>
          </a:xfrm>
          <a:prstGeom prst="rect">
            <a:avLst/>
          </a:prstGeom>
          <a:noFill/>
          <a:ln/>
        </p:spPr>
        <p:txBody>
          <a:bodyPr wrap="none" lIns="0" tIns="0" rIns="0" bIns="0" rtlCol="0" anchor="t"/>
          <a:lstStyle/>
          <a:p>
            <a:pPr algn="l" indent="0" marL="0">
              <a:lnSpc>
                <a:spcPct val="116000"/>
              </a:lnSpc>
              <a:buNone/>
            </a:pPr>
            <a:r>
              <a:rPr lang="en-US" sz="950" dirty="0">
                <a:solidFill>
                  <a:srgbClr val="405449"/>
                </a:solidFill>
                <a:latin typeface="Nobile" pitchFamily="34" charset="0"/>
                <a:ea typeface="Nobile" pitchFamily="34" charset="-122"/>
                <a:cs typeface="Nobile" pitchFamily="34" charset="0"/>
              </a:rPr>
              <a:t>Green building standards for all income levels</a:t>
            </a:r>
            <a:endParaRPr lang="en-US" sz="950" dirty="0"/>
          </a:p>
        </p:txBody>
      </p:sp>
      <p:pic>
        <p:nvPicPr>
          <p:cNvPr id="13" name="Image 4" descr="preencoded.png">    </p:cNvPr>
          <p:cNvPicPr>
            <a:picLocks noChangeAspect="1"/>
          </p:cNvPicPr>
          <p:nvPr/>
        </p:nvPicPr>
        <p:blipFill>
          <a:blip r:embed="rId7"/>
          <a:stretch>
            <a:fillRect/>
          </a:stretch>
        </p:blipFill>
        <p:spPr>
          <a:xfrm>
            <a:off x="4193772" y="1065709"/>
            <a:ext cx="3804051" cy="3804146"/>
          </a:xfrm>
          <a:prstGeom prst="rect">
            <a:avLst/>
          </a:prstGeom>
        </p:spPr>
      </p:pic>
      <p:pic>
        <p:nvPicPr>
          <p:cNvPr id="14"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989885" y="2882305"/>
            <a:ext cx="170751" cy="170755"/>
          </a:xfrm>
          <a:prstGeom prst="rect">
            <a:avLst/>
          </a:prstGeom>
        </p:spPr>
      </p:pic>
      <p:sp>
        <p:nvSpPr>
          <p:cNvPr id="15" name="Text 7"/>
          <p:cNvSpPr/>
          <p:nvPr/>
        </p:nvSpPr>
        <p:spPr>
          <a:xfrm>
            <a:off x="7997823" y="4090690"/>
            <a:ext cx="3532397" cy="189706"/>
          </a:xfrm>
          <a:prstGeom prst="rect">
            <a:avLst/>
          </a:prstGeom>
          <a:noFill/>
          <a:ln/>
        </p:spPr>
        <p:txBody>
          <a:bodyPr wrap="none" lIns="0" tIns="0" rIns="0" bIns="0" rtlCol="0" anchor="t"/>
          <a:lstStyle/>
          <a:p>
            <a:pPr algn="l" indent="0" marL="0">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0"/>
              </a:rPr>
              <a:t>Universal Access</a:t>
            </a:r>
            <a:endParaRPr lang="en-US" sz="1150" dirty="0"/>
          </a:p>
        </p:txBody>
      </p:sp>
      <p:sp>
        <p:nvSpPr>
          <p:cNvPr id="16" name="Text 8"/>
          <p:cNvSpPr/>
          <p:nvPr/>
        </p:nvSpPr>
        <p:spPr>
          <a:xfrm>
            <a:off x="7997823" y="4333875"/>
            <a:ext cx="3532397" cy="168473"/>
          </a:xfrm>
          <a:prstGeom prst="rect">
            <a:avLst/>
          </a:prstGeom>
          <a:noFill/>
          <a:ln/>
        </p:spPr>
        <p:txBody>
          <a:bodyPr wrap="none" lIns="0" tIns="0" rIns="0" bIns="0" rtlCol="0" anchor="t"/>
          <a:lstStyle/>
          <a:p>
            <a:pPr algn="l" indent="0" marL="0">
              <a:lnSpc>
                <a:spcPct val="116000"/>
              </a:lnSpc>
              <a:buNone/>
            </a:pPr>
            <a:r>
              <a:rPr lang="en-US" sz="950" dirty="0">
                <a:solidFill>
                  <a:srgbClr val="405449"/>
                </a:solidFill>
                <a:latin typeface="Nobile" pitchFamily="34" charset="0"/>
                <a:ea typeface="Nobile" pitchFamily="34" charset="-122"/>
                <a:cs typeface="Nobile" pitchFamily="34" charset="0"/>
              </a:rPr>
              <a:t>Inclusive design for people of all ages and abilities</a:t>
            </a:r>
            <a:endParaRPr lang="en-US" sz="950" dirty="0"/>
          </a:p>
        </p:txBody>
      </p:sp>
      <p:pic>
        <p:nvPicPr>
          <p:cNvPr id="17" name="Image 6" descr="preencoded.png">    </p:cNvPr>
          <p:cNvPicPr>
            <a:picLocks noChangeAspect="1"/>
          </p:cNvPicPr>
          <p:nvPr/>
        </p:nvPicPr>
        <p:blipFill>
          <a:blip r:embed="rId10"/>
          <a:stretch>
            <a:fillRect/>
          </a:stretch>
        </p:blipFill>
        <p:spPr>
          <a:xfrm>
            <a:off x="4193772" y="1065709"/>
            <a:ext cx="3804051" cy="3804146"/>
          </a:xfrm>
          <a:prstGeom prst="rect">
            <a:avLst/>
          </a:prstGeom>
        </p:spPr>
      </p:pic>
      <p:pic>
        <p:nvPicPr>
          <p:cNvPr id="18"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13032" y="3813969"/>
            <a:ext cx="170751" cy="170755"/>
          </a:xfrm>
          <a:prstGeom prst="rect">
            <a:avLst/>
          </a:prstGeom>
        </p:spPr>
      </p:pic>
      <p:sp>
        <p:nvSpPr>
          <p:cNvPr id="19" name="Text 9"/>
          <p:cNvSpPr/>
          <p:nvPr/>
        </p:nvSpPr>
        <p:spPr>
          <a:xfrm>
            <a:off x="661475" y="3758406"/>
            <a:ext cx="3532298" cy="189706"/>
          </a:xfrm>
          <a:prstGeom prst="rect">
            <a:avLst/>
          </a:prstGeom>
          <a:noFill/>
          <a:ln/>
        </p:spPr>
        <p:txBody>
          <a:bodyPr wrap="none" lIns="0" tIns="0" rIns="0" bIns="0" rtlCol="0" anchor="t"/>
          <a:lstStyle/>
          <a:p>
            <a:pPr algn="r" indent="0" marL="0">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0"/>
              </a:rPr>
              <a:t>Public Transit</a:t>
            </a:r>
            <a:endParaRPr lang="en-US" sz="1150" dirty="0"/>
          </a:p>
        </p:txBody>
      </p:sp>
      <p:sp>
        <p:nvSpPr>
          <p:cNvPr id="20" name="Text 10"/>
          <p:cNvSpPr/>
          <p:nvPr/>
        </p:nvSpPr>
        <p:spPr>
          <a:xfrm>
            <a:off x="661475" y="4001591"/>
            <a:ext cx="3532298" cy="168473"/>
          </a:xfrm>
          <a:prstGeom prst="rect">
            <a:avLst/>
          </a:prstGeom>
          <a:noFill/>
          <a:ln/>
        </p:spPr>
        <p:txBody>
          <a:bodyPr wrap="none" lIns="0" tIns="0" rIns="0" bIns="0" rtlCol="0" anchor="t"/>
          <a:lstStyle/>
          <a:p>
            <a:pPr algn="r" indent="0" marL="0">
              <a:lnSpc>
                <a:spcPct val="116000"/>
              </a:lnSpc>
              <a:buNone/>
            </a:pPr>
            <a:r>
              <a:rPr lang="en-US" sz="950" dirty="0">
                <a:solidFill>
                  <a:srgbClr val="405449"/>
                </a:solidFill>
                <a:latin typeface="Nobile" pitchFamily="34" charset="0"/>
                <a:ea typeface="Nobile" pitchFamily="34" charset="-122"/>
                <a:cs typeface="Nobile" pitchFamily="34" charset="0"/>
              </a:rPr>
              <a:t>Clean, efficient transportation reducing car dependency</a:t>
            </a:r>
            <a:endParaRPr lang="en-US" sz="950" dirty="0"/>
          </a:p>
        </p:txBody>
      </p:sp>
      <p:pic>
        <p:nvPicPr>
          <p:cNvPr id="21" name="Image 8" descr="preencoded.png">    </p:cNvPr>
          <p:cNvPicPr>
            <a:picLocks noChangeAspect="1"/>
          </p:cNvPicPr>
          <p:nvPr/>
        </p:nvPicPr>
        <p:blipFill>
          <a:blip r:embed="rId13"/>
          <a:stretch>
            <a:fillRect/>
          </a:stretch>
        </p:blipFill>
        <p:spPr>
          <a:xfrm>
            <a:off x="4193772" y="1065709"/>
            <a:ext cx="3804051" cy="3804146"/>
          </a:xfrm>
          <a:prstGeom prst="rect">
            <a:avLst/>
          </a:prstGeom>
        </p:spPr>
      </p:pic>
      <p:pic>
        <p:nvPicPr>
          <p:cNvPr id="22" name="Image 9"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217883" y="3458071"/>
            <a:ext cx="170751" cy="170755"/>
          </a:xfrm>
          <a:prstGeom prst="rect">
            <a:avLst/>
          </a:prstGeom>
        </p:spPr>
      </p:pic>
      <p:sp>
        <p:nvSpPr>
          <p:cNvPr id="23" name="Text 11"/>
          <p:cNvSpPr/>
          <p:nvPr/>
        </p:nvSpPr>
        <p:spPr>
          <a:xfrm>
            <a:off x="661475" y="4970165"/>
            <a:ext cx="10868745" cy="1379934"/>
          </a:xfrm>
          <a:prstGeom prst="rect">
            <a:avLst/>
          </a:prstGeom>
          <a:noFill/>
          <a:ln/>
        </p:spPr>
        <p:txBody>
          <a:bodyPr wrap="square" lIns="0" tIns="0" rIns="0" bIns="0" rtlCol="0" anchor="t">
            <a:normAutofit/>
          </a:bodyPr>
          <a:lstStyle/>
          <a:p>
            <a:pPr algn="l" indent="0" marL="0">
              <a:lnSpc>
                <a:spcPct val="116000"/>
              </a:lnSpc>
              <a:spcAft>
                <a:spcPts val="750"/>
              </a:spcAft>
              <a:buNone/>
            </a:pPr>
            <a:r>
              <a:rPr lang="en-US" sz="950" dirty="0">
                <a:solidFill>
                  <a:srgbClr val="405449"/>
                </a:solidFill>
                <a:latin typeface="Nobile" pitchFamily="34" charset="0"/>
                <a:ea typeface="Nobile" pitchFamily="34" charset="-122"/>
                <a:cs typeface="Nobile" pitchFamily="34" charset="0"/>
              </a:rPr>
              <a:t>Human-centered design principles ensure that green cities serve all residents, not just the affluent. The most successful sustainable urban developments integrate affordable housing with high-quality green infrastructure, proving that environmental sustainability and social equity are mutually reinforcing goals rather than competing priorities.</a:t>
            </a:r>
            <a:endParaRPr lang="en-US" sz="950" dirty="0"/>
          </a:p>
          <a:p>
            <a:pPr algn="l" indent="0" marL="0">
              <a:lnSpc>
                <a:spcPct val="116000"/>
              </a:lnSpc>
              <a:spcAft>
                <a:spcPts val="750"/>
              </a:spcAft>
              <a:buNone/>
            </a:pPr>
            <a:r>
              <a:rPr lang="en-US" sz="950" dirty="0">
                <a:solidFill>
                  <a:srgbClr val="405449"/>
                </a:solidFill>
                <a:latin typeface="Nobile" pitchFamily="34" charset="0"/>
                <a:ea typeface="Nobile" pitchFamily="34" charset="-122"/>
                <a:cs typeface="Nobile" pitchFamily="34" charset="0"/>
              </a:rPr>
              <a:t>Research consistently shows that access to green space and active transportation options improves physical and mental health outcomes while reducing healthcare costs. Cities designed for walking and cycling see significant reductions in obesity, cardiovascular disease, and depression rates, demonstrating that urban design is fundamentally a public health intervention.</a:t>
            </a:r>
            <a:endParaRPr lang="en-US" sz="950" dirty="0"/>
          </a:p>
          <a:p>
            <a:pPr algn="l" indent="0" marL="0">
              <a:lnSpc>
                <a:spcPct val="116000"/>
              </a:lnSpc>
              <a:buNone/>
            </a:pPr>
            <a:r>
              <a:rPr lang="en-US" sz="950" dirty="0">
                <a:solidFill>
                  <a:srgbClr val="405449"/>
                </a:solidFill>
                <a:latin typeface="Nobile" pitchFamily="34" charset="0"/>
                <a:ea typeface="Nobile" pitchFamily="34" charset="-122"/>
                <a:cs typeface="Nobile" pitchFamily="34" charset="0"/>
              </a:rPr>
              <a:t>The integration of affordable housing with green infrastructure also helps prevent the displacement that often accompanies urban environmental improvements. When sustainability initiatives are designed inclusively from the start, they strengthen rather than fragment existing communities, creating resilient neighborhoods where long-term residents can benefit from environmental improvements.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95113"/>
            <a:ext cx="10868745" cy="460375"/>
          </a:xfrm>
          <a:prstGeom prst="rect">
            <a:avLst/>
          </a:prstGeom>
          <a:noFill/>
          <a:ln/>
        </p:spPr>
        <p:txBody>
          <a:bodyPr wrap="none" lIns="0" tIns="0" rIns="0" bIns="0" rtlCol="0" anchor="t"/>
          <a:lstStyle/>
          <a:p>
            <a:pPr algn="l" indent="0" marL="0">
              <a:lnSpc>
                <a:spcPct val="104000"/>
              </a:lnSpc>
              <a:buNone/>
            </a:pPr>
            <a:r>
              <a:rPr lang="en-US" sz="2850" dirty="0">
                <a:solidFill>
                  <a:srgbClr val="3B4540"/>
                </a:solidFill>
                <a:latin typeface="Fraunces ExtraBold" pitchFamily="34" charset="0"/>
                <a:ea typeface="Fraunces ExtraBold" pitchFamily="34" charset="-122"/>
                <a:cs typeface="Fraunces ExtraBold" pitchFamily="34" charset="0"/>
              </a:rPr>
              <a:t>The Future is Green: Call to Action</a:t>
            </a:r>
            <a:endParaRPr lang="en-US" sz="2850" dirty="0"/>
          </a:p>
        </p:txBody>
      </p:sp>
      <p:pic>
        <p:nvPicPr>
          <p:cNvPr id="3" name="Image 0" descr="preencoded.png">    </p:cNvPr>
          <p:cNvPicPr>
            <a:picLocks noChangeAspect="1"/>
          </p:cNvPicPr>
          <p:nvPr/>
        </p:nvPicPr>
        <p:blipFill>
          <a:blip r:embed="rId1"/>
          <a:stretch>
            <a:fillRect/>
          </a:stretch>
        </p:blipFill>
        <p:spPr>
          <a:xfrm>
            <a:off x="661475" y="1199555"/>
            <a:ext cx="3622882" cy="589161"/>
          </a:xfrm>
          <a:prstGeom prst="rect">
            <a:avLst/>
          </a:prstGeom>
        </p:spPr>
      </p:pic>
      <p:sp>
        <p:nvSpPr>
          <p:cNvPr id="4" name="Text 1"/>
          <p:cNvSpPr/>
          <p:nvPr/>
        </p:nvSpPr>
        <p:spPr>
          <a:xfrm>
            <a:off x="808712" y="1919883"/>
            <a:ext cx="3328408" cy="230187"/>
          </a:xfrm>
          <a:prstGeom prst="rect">
            <a:avLst/>
          </a:prstGeom>
          <a:noFill/>
          <a:ln/>
        </p:spPr>
        <p:txBody>
          <a:bodyPr wrap="none" lIns="0" tIns="0" rIns="0" bIns="0" rtlCol="0" anchor="t"/>
          <a:lstStyle/>
          <a:p>
            <a:pPr algn="l" indent="0" marL="0">
              <a:lnSpc>
                <a:spcPct val="104000"/>
              </a:lnSpc>
              <a:buNone/>
            </a:pPr>
            <a:r>
              <a:rPr lang="en-US" sz="1400" dirty="0">
                <a:solidFill>
                  <a:srgbClr val="405449"/>
                </a:solidFill>
                <a:latin typeface="Fraunces ExtraBold" pitchFamily="34" charset="0"/>
                <a:ea typeface="Fraunces ExtraBold" pitchFamily="34" charset="-122"/>
                <a:cs typeface="Fraunces ExtraBold" pitchFamily="34" charset="0"/>
              </a:rPr>
              <a:t>Embrace Innovation</a:t>
            </a:r>
            <a:endParaRPr lang="en-US" sz="1400" dirty="0"/>
          </a:p>
        </p:txBody>
      </p:sp>
      <p:sp>
        <p:nvSpPr>
          <p:cNvPr id="5" name="Text 2"/>
          <p:cNvSpPr/>
          <p:nvPr/>
        </p:nvSpPr>
        <p:spPr>
          <a:xfrm>
            <a:off x="808712" y="2228751"/>
            <a:ext cx="3328408" cy="89138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405449"/>
                </a:solidFill>
                <a:latin typeface="Nobile" pitchFamily="34" charset="0"/>
                <a:ea typeface="Nobile" pitchFamily="34" charset="-122"/>
                <a:cs typeface="Nobile" pitchFamily="34" charset="0"/>
              </a:rPr>
              <a:t>Adopt integrated green city layouts that combine natural systems with smart technology for maximum environmental and social impact</a:t>
            </a:r>
            <a:endParaRPr lang="en-US" sz="1150" dirty="0"/>
          </a:p>
        </p:txBody>
      </p:sp>
      <p:pic>
        <p:nvPicPr>
          <p:cNvPr id="6" name="Image 1" descr="preencoded.png">    </p:cNvPr>
          <p:cNvPicPr>
            <a:picLocks noChangeAspect="1"/>
          </p:cNvPicPr>
          <p:nvPr/>
        </p:nvPicPr>
        <p:blipFill>
          <a:blip r:embed="rId2"/>
          <a:stretch>
            <a:fillRect/>
          </a:stretch>
        </p:blipFill>
        <p:spPr>
          <a:xfrm>
            <a:off x="4284357" y="1199555"/>
            <a:ext cx="3622882" cy="589161"/>
          </a:xfrm>
          <a:prstGeom prst="rect">
            <a:avLst/>
          </a:prstGeom>
        </p:spPr>
      </p:pic>
      <p:sp>
        <p:nvSpPr>
          <p:cNvPr id="7" name="Text 3"/>
          <p:cNvSpPr/>
          <p:nvPr/>
        </p:nvSpPr>
        <p:spPr>
          <a:xfrm>
            <a:off x="4431594" y="1919883"/>
            <a:ext cx="3328408" cy="230187"/>
          </a:xfrm>
          <a:prstGeom prst="rect">
            <a:avLst/>
          </a:prstGeom>
          <a:noFill/>
          <a:ln/>
        </p:spPr>
        <p:txBody>
          <a:bodyPr wrap="none" lIns="0" tIns="0" rIns="0" bIns="0" rtlCol="0" anchor="t"/>
          <a:lstStyle/>
          <a:p>
            <a:pPr algn="l" indent="0" marL="0">
              <a:lnSpc>
                <a:spcPct val="104000"/>
              </a:lnSpc>
              <a:buNone/>
            </a:pPr>
            <a:r>
              <a:rPr lang="en-US" sz="1400" dirty="0">
                <a:solidFill>
                  <a:srgbClr val="405449"/>
                </a:solidFill>
                <a:latin typeface="Fraunces ExtraBold" pitchFamily="34" charset="0"/>
                <a:ea typeface="Fraunces ExtraBold" pitchFamily="34" charset="-122"/>
                <a:cs typeface="Fraunces ExtraBold" pitchFamily="34" charset="0"/>
              </a:rPr>
              <a:t>Build Partnerships</a:t>
            </a:r>
            <a:endParaRPr lang="en-US" sz="1400" dirty="0"/>
          </a:p>
        </p:txBody>
      </p:sp>
      <p:sp>
        <p:nvSpPr>
          <p:cNvPr id="8" name="Text 4"/>
          <p:cNvSpPr/>
          <p:nvPr/>
        </p:nvSpPr>
        <p:spPr>
          <a:xfrm>
            <a:off x="4431594" y="2228751"/>
            <a:ext cx="3328408" cy="668536"/>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405449"/>
                </a:solidFill>
                <a:latin typeface="Nobile" pitchFamily="34" charset="0"/>
                <a:ea typeface="Nobile" pitchFamily="34" charset="-122"/>
                <a:cs typeface="Nobile" pitchFamily="34" charset="0"/>
              </a:rPr>
              <a:t>Foster collaboration between governments, communities, businesses, and technology innovators to scale sustainable solutions</a:t>
            </a:r>
            <a:endParaRPr lang="en-US" sz="1150" dirty="0"/>
          </a:p>
        </p:txBody>
      </p:sp>
      <p:pic>
        <p:nvPicPr>
          <p:cNvPr id="9" name="Image 2" descr="preencoded.png">    </p:cNvPr>
          <p:cNvPicPr>
            <a:picLocks noChangeAspect="1"/>
          </p:cNvPicPr>
          <p:nvPr/>
        </p:nvPicPr>
        <p:blipFill>
          <a:blip r:embed="rId3"/>
          <a:stretch>
            <a:fillRect/>
          </a:stretch>
        </p:blipFill>
        <p:spPr>
          <a:xfrm>
            <a:off x="7907239" y="1199555"/>
            <a:ext cx="3622882" cy="589161"/>
          </a:xfrm>
          <a:prstGeom prst="rect">
            <a:avLst/>
          </a:prstGeom>
        </p:spPr>
      </p:pic>
      <p:sp>
        <p:nvSpPr>
          <p:cNvPr id="10" name="Text 5"/>
          <p:cNvSpPr/>
          <p:nvPr/>
        </p:nvSpPr>
        <p:spPr>
          <a:xfrm>
            <a:off x="8054476" y="1919883"/>
            <a:ext cx="3328408" cy="230187"/>
          </a:xfrm>
          <a:prstGeom prst="rect">
            <a:avLst/>
          </a:prstGeom>
          <a:noFill/>
          <a:ln/>
        </p:spPr>
        <p:txBody>
          <a:bodyPr wrap="none" lIns="0" tIns="0" rIns="0" bIns="0" rtlCol="0" anchor="t"/>
          <a:lstStyle/>
          <a:p>
            <a:pPr algn="l" indent="0" marL="0">
              <a:lnSpc>
                <a:spcPct val="104000"/>
              </a:lnSpc>
              <a:buNone/>
            </a:pPr>
            <a:r>
              <a:rPr lang="en-US" sz="1400" dirty="0">
                <a:solidFill>
                  <a:srgbClr val="405449"/>
                </a:solidFill>
                <a:latin typeface="Fraunces ExtraBold" pitchFamily="34" charset="0"/>
                <a:ea typeface="Fraunces ExtraBold" pitchFamily="34" charset="-122"/>
                <a:cs typeface="Fraunces ExtraBold" pitchFamily="34" charset="0"/>
              </a:rPr>
              <a:t>Transform Cities</a:t>
            </a:r>
            <a:endParaRPr lang="en-US" sz="1400" dirty="0"/>
          </a:p>
        </p:txBody>
      </p:sp>
      <p:sp>
        <p:nvSpPr>
          <p:cNvPr id="11" name="Text 6"/>
          <p:cNvSpPr/>
          <p:nvPr/>
        </p:nvSpPr>
        <p:spPr>
          <a:xfrm>
            <a:off x="8054476" y="2228751"/>
            <a:ext cx="3328408" cy="668536"/>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405449"/>
                </a:solidFill>
                <a:latin typeface="Nobile" pitchFamily="34" charset="0"/>
                <a:ea typeface="Nobile" pitchFamily="34" charset="-122"/>
                <a:cs typeface="Nobile" pitchFamily="34" charset="0"/>
              </a:rPr>
              <a:t>Create cleaner, healthier, and more vibrant urban environments that will thrive for generations to come</a:t>
            </a:r>
            <a:endParaRPr lang="en-US" sz="1150" dirty="0"/>
          </a:p>
        </p:txBody>
      </p:sp>
      <p:sp>
        <p:nvSpPr>
          <p:cNvPr id="12" name="Text 7"/>
          <p:cNvSpPr/>
          <p:nvPr/>
        </p:nvSpPr>
        <p:spPr>
          <a:xfrm>
            <a:off x="661475" y="3414911"/>
            <a:ext cx="10868745" cy="1484610"/>
          </a:xfrm>
          <a:prstGeom prst="rect">
            <a:avLst/>
          </a:prstGeom>
          <a:noFill/>
          <a:ln/>
        </p:spPr>
        <p:txBody>
          <a:bodyPr wrap="square" lIns="0" tIns="0" rIns="0" bIns="0" rtlCol="0" anchor="t">
            <a:normAutofit/>
          </a:bodyPr>
          <a:lstStyle/>
          <a:p>
            <a:pPr algn="l" indent="0" marL="0">
              <a:lnSpc>
                <a:spcPct val="126000"/>
              </a:lnSpc>
              <a:spcAft>
                <a:spcPts val="1150"/>
              </a:spcAft>
              <a:buNone/>
            </a:pPr>
            <a:r>
              <a:rPr lang="en-US" sz="1150" dirty="0">
                <a:solidFill>
                  <a:srgbClr val="405449"/>
                </a:solidFill>
                <a:latin typeface="Nobile" pitchFamily="34" charset="0"/>
                <a:ea typeface="Nobile" pitchFamily="34" charset="-122"/>
                <a:cs typeface="Nobile" pitchFamily="34" charset="0"/>
              </a:rPr>
              <a:t>The transition to clean green cities represents one of humanity's greatest opportunities to address climate change while improving quality of life for billions of people. The technologies, design principles, and community engagement strategies needed for this transformation already exist – what's required now is the political will and social commitment to implement them at scale.</a:t>
            </a:r>
            <a:endParaRPr lang="en-US" sz="1150" dirty="0"/>
          </a:p>
          <a:p>
            <a:pPr algn="l" indent="0" marL="0">
              <a:lnSpc>
                <a:spcPct val="126000"/>
              </a:lnSpc>
              <a:buNone/>
            </a:pPr>
            <a:r>
              <a:rPr lang="en-US" sz="1150" dirty="0">
                <a:solidFill>
                  <a:srgbClr val="405449"/>
                </a:solidFill>
                <a:latin typeface="Nobile" pitchFamily="34" charset="0"/>
                <a:ea typeface="Nobile" pitchFamily="34" charset="-122"/>
                <a:cs typeface="Nobile" pitchFamily="34" charset="0"/>
              </a:rPr>
              <a:t>Every city has the potential to become a model of sustainability, but success requires moving beyond pilot projects to systemic change. This means updating zoning codes to encourage mixed-use development, investing in public transportation and green infrastructure, and ensuring that all residents can participate in and benefit from the green economy.</a:t>
            </a:r>
            <a:endParaRPr lang="en-US" sz="1150" dirty="0"/>
          </a:p>
        </p:txBody>
      </p:sp>
      <p:sp>
        <p:nvSpPr>
          <p:cNvPr id="13" name="Text 8"/>
          <p:cNvSpPr/>
          <p:nvPr/>
        </p:nvSpPr>
        <p:spPr>
          <a:xfrm>
            <a:off x="882330" y="5194598"/>
            <a:ext cx="10647890"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405449"/>
                </a:solidFill>
                <a:latin typeface="Nobile" pitchFamily="34" charset="0"/>
                <a:ea typeface="Nobile" pitchFamily="34" charset="-122"/>
                <a:cs typeface="Nobile" pitchFamily="34" charset="0"/>
              </a:rPr>
              <a:t>The cities of tomorrow will be defined not by what they consume, but by what they regenerate. By embracing integrated green design today, we're not just building more sustainable cities – we're creating the foundation for a more sustainable civilization.</a:t>
            </a:r>
            <a:endParaRPr lang="en-US" sz="1150" dirty="0"/>
          </a:p>
        </p:txBody>
      </p:sp>
      <p:sp>
        <p:nvSpPr>
          <p:cNvPr id="14" name="Shape 9"/>
          <p:cNvSpPr/>
          <p:nvPr/>
        </p:nvSpPr>
        <p:spPr>
          <a:xfrm>
            <a:off x="661475" y="5047059"/>
            <a:ext cx="19050" cy="740767"/>
          </a:xfrm>
          <a:prstGeom prst="roundRect">
            <a:avLst>
              <a:gd name="adj" fmla="val 49999"/>
            </a:avLst>
          </a:prstGeom>
          <a:solidFill>
            <a:srgbClr val="438951"/>
          </a:solidFill>
          <a:ln/>
        </p:spPr>
      </p:sp>
      <p:sp>
        <p:nvSpPr>
          <p:cNvPr id="15" name="Text 10"/>
          <p:cNvSpPr/>
          <p:nvPr/>
        </p:nvSpPr>
        <p:spPr>
          <a:xfrm>
            <a:off x="661475" y="5935365"/>
            <a:ext cx="10868745"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405449"/>
                </a:solidFill>
                <a:latin typeface="Nobile" pitchFamily="34" charset="0"/>
                <a:ea typeface="Nobile" pitchFamily="34" charset="-122"/>
                <a:cs typeface="Nobile" pitchFamily="34" charset="0"/>
              </a:rPr>
              <a:t>The future is green, and it starts with the choices we make today in designing and building our urban communities. Together, we can create cities that serve as beacons of hope and models of possibility for a more sustainable world.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2026-10-24T08:31:50Z</dcterms:created>
  <dcterms:modified xsi:type="dcterms:W3CDTF">2026-10-24T08:31:50Z</dcterms:modified>
</cp:coreProperties>
</file>
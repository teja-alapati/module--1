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 (%)</c:v>
                </c:pt>
              </c:strCache>
            </c:strRef>
          </c:tx>
          <c:spPr>
            <a:solidFill>
              <a:srgbClr val="2B68DC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Learning</c:v>
                </c:pt>
                <c:pt idx="1">
                  <c:v>Writing</c:v>
                </c:pt>
                <c:pt idx="2">
                  <c:v>Search</c:v>
                </c:pt>
                <c:pt idx="3">
                  <c:v>Images</c:v>
                </c:pt>
                <c:pt idx="4">
                  <c:v>Coding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64</c:v>
                </c:pt>
                <c:pt idx="2">
                  <c:v>59</c:v>
                </c:pt>
                <c:pt idx="3">
                  <c:v>42</c:v>
                </c:pt>
                <c:pt idx="4">
                  <c:v>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736-494E-A413-59C68F87F1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IN" sz="1000"/>
                  <a:t>Respondents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731520"/>
            <a:ext cx="2011680" cy="2011680"/>
          </a:xfrm>
          <a:prstGeom prst="ellipse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286000"/>
            <a:ext cx="1097280" cy="1097280"/>
          </a:xfrm>
          <a:prstGeom prst="ellipse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3200400"/>
            <a:ext cx="914400" cy="914400"/>
          </a:xfrm>
          <a:prstGeom prst="ellipse">
            <a:avLst/>
          </a:prstGeom>
          <a:solidFill>
            <a:srgbClr val="F5B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4023360"/>
            <a:ext cx="640080" cy="640080"/>
          </a:xfrm>
          <a:prstGeom prst="ellipse">
            <a:avLst/>
          </a:prstGeom>
          <a:solidFill>
            <a:srgbClr val="2E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9692640" y="1645920"/>
            <a:ext cx="640080" cy="914400"/>
          </a:xfrm>
          <a:prstGeom prst="line">
            <a:avLst/>
          </a:prstGeom>
          <a:ln w="19050">
            <a:solidFill>
              <a:srgbClr val="6E9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503920" y="2651760"/>
            <a:ext cx="731520" cy="1005840"/>
          </a:xfrm>
          <a:prstGeom prst="line">
            <a:avLst/>
          </a:prstGeom>
          <a:ln w="19050">
            <a:solidFill>
              <a:srgbClr val="6E9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332720" y="3383280"/>
            <a:ext cx="228600" cy="960120"/>
          </a:xfrm>
          <a:prstGeom prst="line">
            <a:avLst/>
          </a:prstGeom>
          <a:ln w="19050">
            <a:solidFill>
              <a:srgbClr val="6E9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0" y="3657600"/>
            <a:ext cx="2057400" cy="685800"/>
          </a:xfrm>
          <a:prstGeom prst="line">
            <a:avLst/>
          </a:prstGeom>
          <a:ln w="19050">
            <a:solidFill>
              <a:srgbClr val="6E9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105156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BED2"/>
                </a:solidFill>
                <a:latin typeface="Aptos"/>
              </a:rPr>
              <a:t>A 5-SLIDE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71323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ARTIFICIAL
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6309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CDDAEF"/>
                </a:solidFill>
                <a:latin typeface="Aptos"/>
              </a:rPr>
              <a:t>How intelligent systems learn, support decisions, and shape everyday life.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892040"/>
            <a:ext cx="2468880" cy="475488"/>
          </a:xfrm>
          <a:prstGeom prst="roundRect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500176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CONCEPTS • USE CASES •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1C2DC"/>
                </a:solidFill>
                <a:latin typeface="Aptos"/>
              </a:rPr>
              <a:t>ARTIFICIAL INTELLIGENCE  • 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1C2DC"/>
                </a:solidFill>
                <a:latin typeface="Aptos"/>
              </a:rPr>
              <a:t>01 / 05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68DC"/>
                </a:solidFill>
                <a:latin typeface="Aptos"/>
              </a:rPr>
              <a:t>01 / UNDERSTAND 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11F3B"/>
                </a:solidFill>
                <a:latin typeface="Aptos"/>
              </a:rPr>
              <a:t>What is Artificial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387"/>
                </a:solidFill>
                <a:latin typeface="Aptos"/>
              </a:rPr>
              <a:t>AI enables computer systems to perform tasks that normally require human-like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749039" cy="3337560"/>
          </a:xfrm>
          <a:prstGeom prst="roundRect">
            <a:avLst/>
          </a:prstGeom>
          <a:solidFill>
            <a:srgbClr val="1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AI in simple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06324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AE5F6"/>
                </a:solidFill>
                <a:latin typeface="Aptos"/>
              </a:rPr>
              <a:t>AI systems use data and algorithms to recognize patterns, make predictions, understand language, and help solve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70916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BED2"/>
                </a:solidFill>
                <a:latin typeface="Aptos"/>
              </a:rPr>
              <a:t>DATA  →  LEARNING  → 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05740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00600" y="2221992"/>
            <a:ext cx="64008" cy="1088136"/>
          </a:xfrm>
          <a:prstGeom prst="rect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226771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15768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Learns patterns from examples and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574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2221992"/>
            <a:ext cx="64008" cy="1088136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2677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Natural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1576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387"/>
                </a:solidFill>
                <a:latin typeface="Aptos"/>
              </a:rPr>
              <a:t>Works with human language, text, and speech.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79476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00600" y="3959352"/>
            <a:ext cx="64008" cy="1088136"/>
          </a:xfrm>
          <a:prstGeom prst="rect">
            <a:avLst/>
          </a:prstGeom>
          <a:solidFill>
            <a:srgbClr val="F5B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400507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Computer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453128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Interprets images and video.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794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01000" y="3959352"/>
            <a:ext cx="64008" cy="1088136"/>
          </a:xfrm>
          <a:prstGeom prst="rect">
            <a:avLst/>
          </a:prstGeom>
          <a:solidFill>
            <a:srgbClr val="2E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40050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Robotics &amp;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45312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Supports actions, navigation, and task planning.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ARTIFICIAL INTELLIGENCE  • 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387"/>
                </a:solidFill>
                <a:latin typeface="Aptos"/>
              </a:rPr>
              <a:t>02 / 05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9" grpId="0" animBg="1"/>
      <p:bldP spid="13" grpId="0" animBg="1"/>
      <p:bldP spid="17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68DC"/>
                </a:solidFill>
                <a:latin typeface="Aptos"/>
              </a:rPr>
              <a:t>02 / WHERE AI IS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F3B"/>
                </a:solidFill>
                <a:latin typeface="Aptos"/>
              </a:rPr>
              <a:t>AI across everyday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387"/>
                </a:solidFill>
                <a:latin typeface="Aptos"/>
              </a:rPr>
              <a:t>AI is most useful when it helps people process information faster or make better-informed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5166360" cy="1481328"/>
          </a:xfrm>
          <a:prstGeom prst="roundRect">
            <a:avLst/>
          </a:prstGeom>
          <a:solidFill>
            <a:srgbClr val="EFF5FF"/>
          </a:solidFill>
          <a:ln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2350008"/>
            <a:ext cx="658368" cy="658368"/>
          </a:xfrm>
          <a:prstGeom prst="ellipse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313432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F3B"/>
                </a:solidFill>
                <a:latin typeface="Aptos"/>
              </a:rPr>
              <a:t>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15768"/>
            <a:ext cx="3703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Support image analysis, risk prediction, and clinical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57400"/>
            <a:ext cx="5166360" cy="1481328"/>
          </a:xfrm>
          <a:prstGeom prst="roundRect">
            <a:avLst/>
          </a:prstGeom>
          <a:solidFill>
            <a:srgbClr val="EFF5FF"/>
          </a:solidFill>
          <a:ln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629400" y="2350008"/>
            <a:ext cx="658368" cy="658368"/>
          </a:xfrm>
          <a:prstGeom prst="ellipse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53288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313432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F3B"/>
                </a:solidFill>
                <a:latin typeface="Aptos"/>
              </a:rPr>
              <a:t>EDUCATION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715768"/>
            <a:ext cx="3703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Personalize practice, explain concepts, and provide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31920"/>
            <a:ext cx="5166360" cy="1481328"/>
          </a:xfrm>
          <a:prstGeom prst="roundRect">
            <a:avLst/>
          </a:prstGeom>
          <a:solidFill>
            <a:srgbClr val="EFF5FF"/>
          </a:solidFill>
          <a:ln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224528"/>
            <a:ext cx="658368" cy="658368"/>
          </a:xfrm>
          <a:prstGeom prst="ellipse">
            <a:avLst/>
          </a:prstGeom>
          <a:solidFill>
            <a:srgbClr val="F5B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0740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187952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F3B"/>
                </a:solidFill>
                <a:latin typeface="Aptos"/>
              </a:rPr>
              <a:t>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590288"/>
            <a:ext cx="3703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Assist navigation, route planning, and driver-support systems.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5166360" cy="1481328"/>
          </a:xfrm>
          <a:prstGeom prst="roundRect">
            <a:avLst/>
          </a:prstGeom>
          <a:solidFill>
            <a:srgbClr val="EFF5FF"/>
          </a:solidFill>
          <a:ln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29400" y="4224528"/>
            <a:ext cx="658368" cy="658368"/>
          </a:xfrm>
          <a:prstGeom prst="ellipse">
            <a:avLst/>
          </a:prstGeom>
          <a:solidFill>
            <a:srgbClr val="2E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440740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187952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F3B"/>
                </a:solidFill>
                <a:latin typeface="Aptos"/>
              </a:rP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590288"/>
            <a:ext cx="3703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Forecast demand, detect unusual activity, and automate routine tasks.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89320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B68DC"/>
                </a:solidFill>
                <a:latin typeface="Aptos"/>
              </a:rPr>
              <a:t>Good outcomes depend on reliable data, appropriate oversight, and human judgment.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ARTIFICIAL INTELLIGENCE  • 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387"/>
                </a:solidFill>
                <a:latin typeface="Aptos"/>
              </a:rPr>
              <a:t>03 / 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5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68DC"/>
                </a:solidFill>
                <a:latin typeface="Aptos"/>
              </a:rPr>
              <a:t>03 / EXAMPLE 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F3B"/>
                </a:solidFill>
                <a:latin typeface="Aptos"/>
              </a:rPr>
              <a:t>Illustrative AI use-case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387"/>
                </a:solidFill>
                <a:latin typeface="Aptos"/>
              </a:rPr>
              <a:t>A sample chart showing how a hypothetical student survey might group common AI use cases.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965960"/>
          <a:ext cx="685800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92440" y="2148840"/>
            <a:ext cx="3246120" cy="3383280"/>
          </a:xfrm>
          <a:prstGeom prst="roundRect">
            <a:avLst/>
          </a:prstGeom>
          <a:solidFill>
            <a:srgbClr val="1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248716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What the chart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154680"/>
            <a:ext cx="2514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6F5"/>
                </a:solidFill>
                <a:latin typeface="Aptos"/>
              </a:rPr>
              <a:t>• Learning is the most common use in this example.
• Image generation and coding are less frequent in the sample.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502920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BED2"/>
                </a:solidFill>
                <a:latin typeface="Aptos"/>
              </a:rPr>
              <a:t>Illustrative data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ARTIFICIAL INTELLIGENCE  • 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387"/>
                </a:solidFill>
                <a:latin typeface="Aptos"/>
              </a:rPr>
              <a:t>04 / 05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BED2"/>
                </a:solidFill>
                <a:latin typeface="Aptos"/>
              </a:rPr>
              <a:t>04 /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Use AI thoughtfully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3D3EB"/>
                </a:solidFill>
                <a:latin typeface="Aptos"/>
              </a:rPr>
              <a:t>AI can create value when it is paired with human judgment and clear safeguards.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221992"/>
            <a:ext cx="64008" cy="1911096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Potential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29260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• Faster routine work
• Support for analysis
• Personalized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5740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2221992"/>
            <a:ext cx="64008" cy="1911096"/>
          </a:xfrm>
          <a:prstGeom prst="rect">
            <a:avLst/>
          </a:prstGeom>
          <a:solidFill>
            <a:srgbClr val="F5B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2677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Key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15768"/>
            <a:ext cx="29260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• Incorrect or misleading output
• Bias in data or decisions
• Privacy and security concerns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5740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2221992"/>
            <a:ext cx="64008" cy="1911096"/>
          </a:xfrm>
          <a:prstGeom prst="rect">
            <a:avLst/>
          </a:prstGeom>
          <a:solidFill>
            <a:srgbClr val="2E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2677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Good practices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15768"/>
            <a:ext cx="29260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• Verify important claims
• Protect sensitive information
• Keep people accountable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KEY TAKEAWAY: AI is a tool to augment people—not replace careful thinking.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6928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0D2ED"/>
                </a:solidFill>
                <a:latin typeface="Aptos"/>
              </a:rPr>
              <a:t>Ask clear questions • Check the output • Use data responsibly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1C2DC"/>
                </a:solidFill>
                <a:latin typeface="Aptos"/>
              </a:rPr>
              <a:t>ARTIFICIAL INTELLIGENCE  • 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1C2DC"/>
                </a:solidFill>
                <a:latin typeface="Aptos"/>
              </a:rPr>
              <a:t>05 / 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403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Alapati Tejavarshini</cp:lastModifiedBy>
  <cp:revision>2</cp:revision>
  <dcterms:created xsi:type="dcterms:W3CDTF">2013-01-27T09:14:16Z</dcterms:created>
  <dcterms:modified xsi:type="dcterms:W3CDTF">2026-10-24T08:25:44Z</dcterms:modified>
  <cp:category/>
</cp:coreProperties>
</file>